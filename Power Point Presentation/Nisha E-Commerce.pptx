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handoutMasterIdLst>
    <p:handoutMasterId r:id="rId24"/>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0A4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p:scale>
          <a:sx n="33" d="100"/>
          <a:sy n="33" d="100"/>
        </p:scale>
        <p:origin x="-2436" y="-8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07FB0E1-2B10-491C-96B6-13504964635D}" type="datetimeFigureOut">
              <a:rPr lang="en-IN" smtClean="0"/>
              <a:t>04-03-2021</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E-Commerce presented by Nisha Abid Ali Sayed</a:t>
            </a:r>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34609C3-7076-43AD-9678-0BBF307AC6DF}" type="slidenum">
              <a:rPr lang="en-IN" smtClean="0"/>
              <a:t>‹#›</a:t>
            </a:fld>
            <a:endParaRPr lang="en-IN"/>
          </a:p>
        </p:txBody>
      </p:sp>
    </p:spTree>
    <p:extLst>
      <p:ext uri="{BB962C8B-B14F-4D97-AF65-F5344CB8AC3E}">
        <p14:creationId xmlns:p14="http://schemas.microsoft.com/office/powerpoint/2010/main" val="352593432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F849D4-E5FA-4ED4-9B26-57D01A097BED}" type="datetimeFigureOut">
              <a:rPr lang="en-IN" smtClean="0"/>
              <a:t>04-03-2021</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E-Commerce presented by Nisha Abid Ali Sayed</a:t>
            </a:r>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1897D3-3CBC-4901-8FD7-01A0565E2CE8}" type="slidenum">
              <a:rPr lang="en-IN" smtClean="0"/>
              <a:t>‹#›</a:t>
            </a:fld>
            <a:endParaRPr lang="en-IN"/>
          </a:p>
        </p:txBody>
      </p:sp>
    </p:spTree>
    <p:extLst>
      <p:ext uri="{BB962C8B-B14F-4D97-AF65-F5344CB8AC3E}">
        <p14:creationId xmlns:p14="http://schemas.microsoft.com/office/powerpoint/2010/main" val="102771667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01897D3-3CBC-4901-8FD7-01A0565E2CE8}" type="slidenum">
              <a:rPr lang="en-IN" smtClean="0"/>
              <a:t>1</a:t>
            </a:fld>
            <a:endParaRPr lang="en-IN"/>
          </a:p>
        </p:txBody>
      </p:sp>
      <p:sp>
        <p:nvSpPr>
          <p:cNvPr id="5" name="Footer Placeholder 4"/>
          <p:cNvSpPr>
            <a:spLocks noGrp="1"/>
          </p:cNvSpPr>
          <p:nvPr>
            <p:ph type="ftr" sz="quarter" idx="11"/>
          </p:nvPr>
        </p:nvSpPr>
        <p:spPr/>
        <p:txBody>
          <a:bodyPr/>
          <a:lstStyle/>
          <a:p>
            <a:r>
              <a:rPr lang="en-US" smtClean="0"/>
              <a:t>E-Commerce presented by Nisha Abid Ali Sayed</a:t>
            </a:r>
            <a:endParaRPr lang="en-IN"/>
          </a:p>
        </p:txBody>
      </p:sp>
    </p:spTree>
    <p:extLst>
      <p:ext uri="{BB962C8B-B14F-4D97-AF65-F5344CB8AC3E}">
        <p14:creationId xmlns:p14="http://schemas.microsoft.com/office/powerpoint/2010/main" val="30722101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r>
              <a:rPr lang="en-US" smtClean="0"/>
              <a:t>E-Commerce presented by Nisha Abid Ali Sayed</a:t>
            </a:r>
            <a:endParaRPr lang="en-IN"/>
          </a:p>
        </p:txBody>
      </p:sp>
      <p:sp>
        <p:nvSpPr>
          <p:cNvPr id="5" name="Slide Number Placeholder 4"/>
          <p:cNvSpPr>
            <a:spLocks noGrp="1"/>
          </p:cNvSpPr>
          <p:nvPr>
            <p:ph type="sldNum" sz="quarter" idx="11"/>
          </p:nvPr>
        </p:nvSpPr>
        <p:spPr/>
        <p:txBody>
          <a:bodyPr/>
          <a:lstStyle/>
          <a:p>
            <a:fld id="{E01897D3-3CBC-4901-8FD7-01A0565E2CE8}" type="slidenum">
              <a:rPr lang="en-IN" smtClean="0"/>
              <a:t>16</a:t>
            </a:fld>
            <a:endParaRPr lang="en-IN"/>
          </a:p>
        </p:txBody>
      </p:sp>
    </p:spTree>
    <p:extLst>
      <p:ext uri="{BB962C8B-B14F-4D97-AF65-F5344CB8AC3E}">
        <p14:creationId xmlns:p14="http://schemas.microsoft.com/office/powerpoint/2010/main" val="408044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10" name="Date Placeholder 9"/>
          <p:cNvSpPr>
            <a:spLocks noGrp="1"/>
          </p:cNvSpPr>
          <p:nvPr>
            <p:ph type="dt" sz="half" idx="10"/>
          </p:nvPr>
        </p:nvSpPr>
        <p:spPr/>
        <p:txBody>
          <a:bodyPr/>
          <a:lstStyle/>
          <a:p>
            <a:fld id="{0F25A893-ADDD-44E4-B32A-7C9B2C5780CF}" type="datetime1">
              <a:rPr lang="en-IN" smtClean="0"/>
              <a:t>04-03-2021</a:t>
            </a:fld>
            <a:endParaRPr lang="en-IN"/>
          </a:p>
        </p:txBody>
      </p:sp>
      <p:sp>
        <p:nvSpPr>
          <p:cNvPr id="11" name="Footer Placeholder 10"/>
          <p:cNvSpPr>
            <a:spLocks noGrp="1"/>
          </p:cNvSpPr>
          <p:nvPr>
            <p:ph type="ftr" sz="quarter" idx="11"/>
          </p:nvPr>
        </p:nvSpPr>
        <p:spPr/>
        <p:txBody>
          <a:bodyPr/>
          <a:lstStyle/>
          <a:p>
            <a:r>
              <a:rPr lang="en-US" smtClean="0"/>
              <a:t>E-Commerce presented by Nisha Abid Ali Sayed</a:t>
            </a:r>
            <a:endParaRPr lang="en-IN"/>
          </a:p>
        </p:txBody>
      </p:sp>
      <p:sp>
        <p:nvSpPr>
          <p:cNvPr id="12" name="Slide Number Placeholder 11"/>
          <p:cNvSpPr>
            <a:spLocks noGrp="1"/>
          </p:cNvSpPr>
          <p:nvPr>
            <p:ph type="sldNum" sz="quarter" idx="12"/>
          </p:nvPr>
        </p:nvSpPr>
        <p:spPr/>
        <p:txBody>
          <a:bodyPr/>
          <a:lstStyle/>
          <a:p>
            <a:fld id="{372EE079-5CE4-4379-B79A-4CD5772D0344}" type="slidenum">
              <a:rPr lang="en-IN" smtClean="0"/>
              <a:t>‹#›</a:t>
            </a:fld>
            <a:endParaRPr lang="en-IN"/>
          </a:p>
        </p:txBody>
      </p:sp>
    </p:spTree>
    <p:extLst>
      <p:ext uri="{BB962C8B-B14F-4D97-AF65-F5344CB8AC3E}">
        <p14:creationId xmlns:p14="http://schemas.microsoft.com/office/powerpoint/2010/main" val="223808105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DE9026F-58C8-4633-82A8-6303E75AEE23}" type="datetime1">
              <a:rPr lang="en-IN" smtClean="0"/>
              <a:t>04-03-2021</a:t>
            </a:fld>
            <a:endParaRPr lang="en-IN"/>
          </a:p>
        </p:txBody>
      </p:sp>
      <p:sp>
        <p:nvSpPr>
          <p:cNvPr id="5" name="Footer Placeholder 4"/>
          <p:cNvSpPr>
            <a:spLocks noGrp="1"/>
          </p:cNvSpPr>
          <p:nvPr>
            <p:ph type="ftr" sz="quarter" idx="11"/>
          </p:nvPr>
        </p:nvSpPr>
        <p:spPr/>
        <p:txBody>
          <a:bodyPr/>
          <a:lstStyle/>
          <a:p>
            <a:r>
              <a:rPr lang="en-US" smtClean="0"/>
              <a:t>E-Commerce presented by Nisha Abid Ali Sayed</a:t>
            </a:r>
            <a:endParaRPr lang="en-IN"/>
          </a:p>
        </p:txBody>
      </p:sp>
      <p:sp>
        <p:nvSpPr>
          <p:cNvPr id="6" name="Slide Number Placeholder 5"/>
          <p:cNvSpPr>
            <a:spLocks noGrp="1"/>
          </p:cNvSpPr>
          <p:nvPr>
            <p:ph type="sldNum" sz="quarter" idx="12"/>
          </p:nvPr>
        </p:nvSpPr>
        <p:spPr/>
        <p:txBody>
          <a:bodyPr/>
          <a:lstStyle/>
          <a:p>
            <a:fld id="{372EE079-5CE4-4379-B79A-4CD5772D0344}" type="slidenum">
              <a:rPr lang="en-IN" smtClean="0"/>
              <a:t>‹#›</a:t>
            </a:fld>
            <a:endParaRPr lang="en-IN"/>
          </a:p>
        </p:txBody>
      </p:sp>
    </p:spTree>
    <p:extLst>
      <p:ext uri="{BB962C8B-B14F-4D97-AF65-F5344CB8AC3E}">
        <p14:creationId xmlns:p14="http://schemas.microsoft.com/office/powerpoint/2010/main" val="4728129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6884A11-BC08-419C-AE37-8A3414F7228F}" type="datetime1">
              <a:rPr lang="en-IN" smtClean="0"/>
              <a:t>04-03-2021</a:t>
            </a:fld>
            <a:endParaRPr lang="en-IN"/>
          </a:p>
        </p:txBody>
      </p:sp>
      <p:sp>
        <p:nvSpPr>
          <p:cNvPr id="5" name="Footer Placeholder 4"/>
          <p:cNvSpPr>
            <a:spLocks noGrp="1"/>
          </p:cNvSpPr>
          <p:nvPr>
            <p:ph type="ftr" sz="quarter" idx="11"/>
          </p:nvPr>
        </p:nvSpPr>
        <p:spPr/>
        <p:txBody>
          <a:bodyPr/>
          <a:lstStyle/>
          <a:p>
            <a:r>
              <a:rPr lang="en-US" smtClean="0"/>
              <a:t>E-Commerce presented by Nisha Abid Ali Sayed</a:t>
            </a:r>
            <a:endParaRPr lang="en-IN"/>
          </a:p>
        </p:txBody>
      </p:sp>
      <p:sp>
        <p:nvSpPr>
          <p:cNvPr id="6" name="Slide Number Placeholder 5"/>
          <p:cNvSpPr>
            <a:spLocks noGrp="1"/>
          </p:cNvSpPr>
          <p:nvPr>
            <p:ph type="sldNum" sz="quarter" idx="12"/>
          </p:nvPr>
        </p:nvSpPr>
        <p:spPr/>
        <p:txBody>
          <a:bodyPr/>
          <a:lstStyle/>
          <a:p>
            <a:fld id="{372EE079-5CE4-4379-B79A-4CD5772D0344}" type="slidenum">
              <a:rPr lang="en-IN" smtClean="0"/>
              <a:t>‹#›</a:t>
            </a:fld>
            <a:endParaRPr lang="en-IN"/>
          </a:p>
        </p:txBody>
      </p:sp>
    </p:spTree>
    <p:extLst>
      <p:ext uri="{BB962C8B-B14F-4D97-AF65-F5344CB8AC3E}">
        <p14:creationId xmlns:p14="http://schemas.microsoft.com/office/powerpoint/2010/main" val="3354746149"/>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8FE8695-D37A-4675-B2E5-29672D1A4A62}" type="datetime1">
              <a:rPr lang="en-IN" smtClean="0"/>
              <a:t>04-03-2021</a:t>
            </a:fld>
            <a:endParaRPr lang="en-IN"/>
          </a:p>
        </p:txBody>
      </p:sp>
      <p:sp>
        <p:nvSpPr>
          <p:cNvPr id="6" name="Footer Placeholder 5"/>
          <p:cNvSpPr>
            <a:spLocks noGrp="1"/>
          </p:cNvSpPr>
          <p:nvPr>
            <p:ph type="ftr" sz="quarter" idx="11"/>
          </p:nvPr>
        </p:nvSpPr>
        <p:spPr/>
        <p:txBody>
          <a:bodyPr/>
          <a:lstStyle/>
          <a:p>
            <a:r>
              <a:rPr lang="en-US" smtClean="0"/>
              <a:t>E-Commerce presented by Nisha Abid Ali Sayed</a:t>
            </a:r>
            <a:endParaRPr lang="en-IN"/>
          </a:p>
        </p:txBody>
      </p:sp>
      <p:sp>
        <p:nvSpPr>
          <p:cNvPr id="7" name="Slide Number Placeholder 6"/>
          <p:cNvSpPr>
            <a:spLocks noGrp="1"/>
          </p:cNvSpPr>
          <p:nvPr>
            <p:ph type="sldNum" sz="quarter" idx="12"/>
          </p:nvPr>
        </p:nvSpPr>
        <p:spPr/>
        <p:txBody>
          <a:bodyPr/>
          <a:lstStyle/>
          <a:p>
            <a:fld id="{372EE079-5CE4-4379-B79A-4CD5772D0344}" type="slidenum">
              <a:rPr lang="en-IN" smtClean="0"/>
              <a:t>‹#›</a:t>
            </a:fld>
            <a:endParaRPr lang="en-IN"/>
          </a:p>
        </p:txBody>
      </p:sp>
    </p:spTree>
    <p:extLst>
      <p:ext uri="{BB962C8B-B14F-4D97-AF65-F5344CB8AC3E}">
        <p14:creationId xmlns:p14="http://schemas.microsoft.com/office/powerpoint/2010/main" val="342614972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15EBCBF-E3DD-4D68-9B89-F97C61042601}" type="datetime1">
              <a:rPr lang="en-IN" smtClean="0"/>
              <a:t>04-03-2021</a:t>
            </a:fld>
            <a:endParaRPr lang="en-IN"/>
          </a:p>
        </p:txBody>
      </p:sp>
      <p:sp>
        <p:nvSpPr>
          <p:cNvPr id="8" name="Footer Placeholder 7"/>
          <p:cNvSpPr>
            <a:spLocks noGrp="1"/>
          </p:cNvSpPr>
          <p:nvPr>
            <p:ph type="ftr" sz="quarter" idx="11"/>
          </p:nvPr>
        </p:nvSpPr>
        <p:spPr/>
        <p:txBody>
          <a:bodyPr/>
          <a:lstStyle/>
          <a:p>
            <a:r>
              <a:rPr lang="en-US" smtClean="0"/>
              <a:t>E-Commerce presented by Nisha Abid Ali Sayed</a:t>
            </a:r>
            <a:endParaRPr lang="en-IN"/>
          </a:p>
        </p:txBody>
      </p:sp>
      <p:sp>
        <p:nvSpPr>
          <p:cNvPr id="9" name="Slide Number Placeholder 8"/>
          <p:cNvSpPr>
            <a:spLocks noGrp="1"/>
          </p:cNvSpPr>
          <p:nvPr>
            <p:ph type="sldNum" sz="quarter" idx="12"/>
          </p:nvPr>
        </p:nvSpPr>
        <p:spPr/>
        <p:txBody>
          <a:bodyPr/>
          <a:lstStyle/>
          <a:p>
            <a:fld id="{372EE079-5CE4-4379-B79A-4CD5772D0344}" type="slidenum">
              <a:rPr lang="en-IN" smtClean="0"/>
              <a:t>‹#›</a:t>
            </a:fld>
            <a:endParaRPr lang="en-IN"/>
          </a:p>
        </p:txBody>
      </p:sp>
    </p:spTree>
    <p:extLst>
      <p:ext uri="{BB962C8B-B14F-4D97-AF65-F5344CB8AC3E}">
        <p14:creationId xmlns:p14="http://schemas.microsoft.com/office/powerpoint/2010/main" val="3838719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35E2B21-34AE-4E9C-9D59-99A4F7F56E36}" type="datetime1">
              <a:rPr lang="en-IN" smtClean="0"/>
              <a:t>04-03-2021</a:t>
            </a:fld>
            <a:endParaRPr lang="en-IN"/>
          </a:p>
        </p:txBody>
      </p:sp>
      <p:sp>
        <p:nvSpPr>
          <p:cNvPr id="4" name="Footer Placeholder 3"/>
          <p:cNvSpPr>
            <a:spLocks noGrp="1"/>
          </p:cNvSpPr>
          <p:nvPr>
            <p:ph type="ftr" sz="quarter" idx="11"/>
          </p:nvPr>
        </p:nvSpPr>
        <p:spPr/>
        <p:txBody>
          <a:bodyPr/>
          <a:lstStyle/>
          <a:p>
            <a:r>
              <a:rPr lang="en-US" smtClean="0"/>
              <a:t>E-Commerce presented by Nisha Abid Ali Sayed</a:t>
            </a:r>
            <a:endParaRPr lang="en-IN"/>
          </a:p>
        </p:txBody>
      </p:sp>
      <p:sp>
        <p:nvSpPr>
          <p:cNvPr id="5" name="Slide Number Placeholder 4"/>
          <p:cNvSpPr>
            <a:spLocks noGrp="1"/>
          </p:cNvSpPr>
          <p:nvPr>
            <p:ph type="sldNum" sz="quarter" idx="12"/>
          </p:nvPr>
        </p:nvSpPr>
        <p:spPr/>
        <p:txBody>
          <a:bodyPr/>
          <a:lstStyle/>
          <a:p>
            <a:fld id="{372EE079-5CE4-4379-B79A-4CD5772D0344}" type="slidenum">
              <a:rPr lang="en-IN" smtClean="0"/>
              <a:t>‹#›</a:t>
            </a:fld>
            <a:endParaRPr lang="en-IN"/>
          </a:p>
        </p:txBody>
      </p:sp>
    </p:spTree>
    <p:extLst>
      <p:ext uri="{BB962C8B-B14F-4D97-AF65-F5344CB8AC3E}">
        <p14:creationId xmlns:p14="http://schemas.microsoft.com/office/powerpoint/2010/main" val="365760899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83959F-B149-4FF6-91B0-5C446F40223E}" type="datetime1">
              <a:rPr lang="en-IN" smtClean="0"/>
              <a:t>04-03-2021</a:t>
            </a:fld>
            <a:endParaRPr lang="en-IN"/>
          </a:p>
        </p:txBody>
      </p:sp>
      <p:sp>
        <p:nvSpPr>
          <p:cNvPr id="3" name="Footer Placeholder 2"/>
          <p:cNvSpPr>
            <a:spLocks noGrp="1"/>
          </p:cNvSpPr>
          <p:nvPr>
            <p:ph type="ftr" sz="quarter" idx="11"/>
          </p:nvPr>
        </p:nvSpPr>
        <p:spPr/>
        <p:txBody>
          <a:bodyPr/>
          <a:lstStyle/>
          <a:p>
            <a:r>
              <a:rPr lang="en-US" smtClean="0"/>
              <a:t>E-Commerce presented by Nisha Abid Ali Sayed</a:t>
            </a:r>
            <a:endParaRPr lang="en-IN"/>
          </a:p>
        </p:txBody>
      </p:sp>
      <p:sp>
        <p:nvSpPr>
          <p:cNvPr id="4" name="Slide Number Placeholder 3"/>
          <p:cNvSpPr>
            <a:spLocks noGrp="1"/>
          </p:cNvSpPr>
          <p:nvPr>
            <p:ph type="sldNum" sz="quarter" idx="12"/>
          </p:nvPr>
        </p:nvSpPr>
        <p:spPr/>
        <p:txBody>
          <a:bodyPr/>
          <a:lstStyle/>
          <a:p>
            <a:fld id="{372EE079-5CE4-4379-B79A-4CD5772D0344}" type="slidenum">
              <a:rPr lang="en-IN" smtClean="0"/>
              <a:t>‹#›</a:t>
            </a:fld>
            <a:endParaRPr lang="en-IN"/>
          </a:p>
        </p:txBody>
      </p:sp>
    </p:spTree>
    <p:extLst>
      <p:ext uri="{BB962C8B-B14F-4D97-AF65-F5344CB8AC3E}">
        <p14:creationId xmlns:p14="http://schemas.microsoft.com/office/powerpoint/2010/main" val="1874499609"/>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5F4A284-51D3-431E-8E6E-3AC81AB8F7EE}" type="datetime1">
              <a:rPr lang="en-IN" smtClean="0"/>
              <a:t>04-03-2021</a:t>
            </a:fld>
            <a:endParaRPr lang="en-IN"/>
          </a:p>
        </p:txBody>
      </p:sp>
      <p:sp>
        <p:nvSpPr>
          <p:cNvPr id="6" name="Footer Placeholder 5"/>
          <p:cNvSpPr>
            <a:spLocks noGrp="1"/>
          </p:cNvSpPr>
          <p:nvPr>
            <p:ph type="ftr" sz="quarter" idx="11"/>
          </p:nvPr>
        </p:nvSpPr>
        <p:spPr/>
        <p:txBody>
          <a:bodyPr/>
          <a:lstStyle/>
          <a:p>
            <a:r>
              <a:rPr lang="en-US" smtClean="0"/>
              <a:t>E-Commerce presented by Nisha Abid Ali Sayed</a:t>
            </a:r>
            <a:endParaRPr lang="en-IN"/>
          </a:p>
        </p:txBody>
      </p:sp>
      <p:sp>
        <p:nvSpPr>
          <p:cNvPr id="7" name="Slide Number Placeholder 6"/>
          <p:cNvSpPr>
            <a:spLocks noGrp="1"/>
          </p:cNvSpPr>
          <p:nvPr>
            <p:ph type="sldNum" sz="quarter" idx="12"/>
          </p:nvPr>
        </p:nvSpPr>
        <p:spPr/>
        <p:txBody>
          <a:bodyPr/>
          <a:lstStyle/>
          <a:p>
            <a:fld id="{372EE079-5CE4-4379-B79A-4CD5772D0344}" type="slidenum">
              <a:rPr lang="en-IN" smtClean="0"/>
              <a:t>‹#›</a:t>
            </a:fld>
            <a:endParaRPr lang="en-IN"/>
          </a:p>
        </p:txBody>
      </p:sp>
    </p:spTree>
    <p:extLst>
      <p:ext uri="{BB962C8B-B14F-4D97-AF65-F5344CB8AC3E}">
        <p14:creationId xmlns:p14="http://schemas.microsoft.com/office/powerpoint/2010/main" val="2508948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A335F5F-3A29-4394-AFA6-3A41D219959B}" type="datetime1">
              <a:rPr lang="en-IN" smtClean="0"/>
              <a:t>04-03-2021</a:t>
            </a:fld>
            <a:endParaRPr lang="en-IN"/>
          </a:p>
        </p:txBody>
      </p:sp>
      <p:sp>
        <p:nvSpPr>
          <p:cNvPr id="6" name="Footer Placeholder 5"/>
          <p:cNvSpPr>
            <a:spLocks noGrp="1"/>
          </p:cNvSpPr>
          <p:nvPr>
            <p:ph type="ftr" sz="quarter" idx="11"/>
          </p:nvPr>
        </p:nvSpPr>
        <p:spPr/>
        <p:txBody>
          <a:bodyPr/>
          <a:lstStyle/>
          <a:p>
            <a:r>
              <a:rPr lang="en-US" smtClean="0"/>
              <a:t>E-Commerce presented by Nisha Abid Ali Sayed</a:t>
            </a:r>
            <a:endParaRPr lang="en-IN"/>
          </a:p>
        </p:txBody>
      </p:sp>
      <p:sp>
        <p:nvSpPr>
          <p:cNvPr id="7" name="Slide Number Placeholder 6"/>
          <p:cNvSpPr>
            <a:spLocks noGrp="1"/>
          </p:cNvSpPr>
          <p:nvPr>
            <p:ph type="sldNum" sz="quarter" idx="12"/>
          </p:nvPr>
        </p:nvSpPr>
        <p:spPr/>
        <p:txBody>
          <a:bodyPr/>
          <a:lstStyle/>
          <a:p>
            <a:fld id="{372EE079-5CE4-4379-B79A-4CD5772D0344}" type="slidenum">
              <a:rPr lang="en-IN" smtClean="0"/>
              <a:t>‹#›</a:t>
            </a:fld>
            <a:endParaRPr lang="en-IN"/>
          </a:p>
        </p:txBody>
      </p:sp>
    </p:spTree>
    <p:extLst>
      <p:ext uri="{BB962C8B-B14F-4D97-AF65-F5344CB8AC3E}">
        <p14:creationId xmlns:p14="http://schemas.microsoft.com/office/powerpoint/2010/main" val="914348119"/>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EA0B32-88DC-4D34-954F-56CFC1F4039D}" type="datetime1">
              <a:rPr lang="en-IN" smtClean="0"/>
              <a:t>04-03-2021</a:t>
            </a:fld>
            <a:endParaRPr lang="en-IN"/>
          </a:p>
        </p:txBody>
      </p:sp>
      <p:sp>
        <p:nvSpPr>
          <p:cNvPr id="5" name="Footer Placeholder 4"/>
          <p:cNvSpPr>
            <a:spLocks noGrp="1"/>
          </p:cNvSpPr>
          <p:nvPr>
            <p:ph type="ftr" sz="quarter" idx="11"/>
          </p:nvPr>
        </p:nvSpPr>
        <p:spPr/>
        <p:txBody>
          <a:bodyPr/>
          <a:lstStyle/>
          <a:p>
            <a:r>
              <a:rPr lang="en-US" smtClean="0"/>
              <a:t>E-Commerce presented by Nisha Abid Ali Sayed</a:t>
            </a:r>
            <a:endParaRPr lang="en-IN"/>
          </a:p>
        </p:txBody>
      </p:sp>
      <p:sp>
        <p:nvSpPr>
          <p:cNvPr id="6" name="Slide Number Placeholder 5"/>
          <p:cNvSpPr>
            <a:spLocks noGrp="1"/>
          </p:cNvSpPr>
          <p:nvPr>
            <p:ph type="sldNum" sz="quarter" idx="12"/>
          </p:nvPr>
        </p:nvSpPr>
        <p:spPr/>
        <p:txBody>
          <a:bodyPr/>
          <a:lstStyle/>
          <a:p>
            <a:fld id="{372EE079-5CE4-4379-B79A-4CD5772D0344}" type="slidenum">
              <a:rPr lang="en-IN" smtClean="0"/>
              <a:t>‹#›</a:t>
            </a:fld>
            <a:endParaRPr lang="en-IN"/>
          </a:p>
        </p:txBody>
      </p:sp>
    </p:spTree>
    <p:extLst>
      <p:ext uri="{BB962C8B-B14F-4D97-AF65-F5344CB8AC3E}">
        <p14:creationId xmlns:p14="http://schemas.microsoft.com/office/powerpoint/2010/main" val="173368077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6DECA5A-BCD8-4411-B462-B45F9B9BD1B1}" type="datetime1">
              <a:rPr lang="en-IN" smtClean="0"/>
              <a:t>04-03-2021</a:t>
            </a:fld>
            <a:endParaRPr lang="en-IN"/>
          </a:p>
        </p:txBody>
      </p:sp>
      <p:sp>
        <p:nvSpPr>
          <p:cNvPr id="5" name="Footer Placeholder 4"/>
          <p:cNvSpPr>
            <a:spLocks noGrp="1"/>
          </p:cNvSpPr>
          <p:nvPr>
            <p:ph type="ftr" sz="quarter" idx="11"/>
          </p:nvPr>
        </p:nvSpPr>
        <p:spPr/>
        <p:txBody>
          <a:bodyPr/>
          <a:lstStyle/>
          <a:p>
            <a:r>
              <a:rPr lang="en-US" smtClean="0"/>
              <a:t>E-Commerce presented by Nisha Abid Ali Sayed</a:t>
            </a:r>
            <a:endParaRPr lang="en-IN"/>
          </a:p>
        </p:txBody>
      </p:sp>
      <p:sp>
        <p:nvSpPr>
          <p:cNvPr id="6" name="Slide Number Placeholder 5"/>
          <p:cNvSpPr>
            <a:spLocks noGrp="1"/>
          </p:cNvSpPr>
          <p:nvPr>
            <p:ph type="sldNum" sz="quarter" idx="12"/>
          </p:nvPr>
        </p:nvSpPr>
        <p:spPr/>
        <p:txBody>
          <a:bodyPr/>
          <a:lstStyle/>
          <a:p>
            <a:fld id="{372EE079-5CE4-4379-B79A-4CD5772D0344}" type="slidenum">
              <a:rPr lang="en-IN" smtClean="0"/>
              <a:t>‹#›</a:t>
            </a:fld>
            <a:endParaRPr lang="en-IN"/>
          </a:p>
        </p:txBody>
      </p:sp>
    </p:spTree>
    <p:extLst>
      <p:ext uri="{BB962C8B-B14F-4D97-AF65-F5344CB8AC3E}">
        <p14:creationId xmlns:p14="http://schemas.microsoft.com/office/powerpoint/2010/main" val="200851398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IN"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25A893-ADDD-44E4-B32A-7C9B2C5780CF}" type="datetime1">
              <a:rPr lang="en-IN" smtClean="0"/>
              <a:t>04-03-2021</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E-Commerce presented by Nisha Abid Ali Sayed</a:t>
            </a:r>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2EE079-5CE4-4379-B79A-4CD5772D0344}" type="slidenum">
              <a:rPr lang="en-IN" smtClean="0"/>
              <a:t>‹#›</a:t>
            </a:fld>
            <a:endParaRPr lang="en-IN"/>
          </a:p>
        </p:txBody>
      </p:sp>
    </p:spTree>
    <p:extLst>
      <p:ext uri="{BB962C8B-B14F-4D97-AF65-F5344CB8AC3E}">
        <p14:creationId xmlns:p14="http://schemas.microsoft.com/office/powerpoint/2010/main" val="32313885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9154613" y="0"/>
            <a:ext cx="9161187" cy="6858000"/>
            <a:chOff x="-9144000" y="0"/>
            <a:chExt cx="9161187" cy="6858000"/>
          </a:xfrm>
        </p:grpSpPr>
        <p:sp>
          <p:nvSpPr>
            <p:cNvPr id="4" name="Rectangle 3"/>
            <p:cNvSpPr/>
            <p:nvPr/>
          </p:nvSpPr>
          <p:spPr>
            <a:xfrm>
              <a:off x="-9144000" y="0"/>
              <a:ext cx="9144000" cy="68580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About Me</a:t>
                </a:r>
                <a:endParaRPr lang="en-IN" sz="2400" b="1" dirty="0">
                  <a:latin typeface="Bahnschrift Light" pitchFamily="34" charset="0"/>
                </a:endParaRPr>
              </a:p>
            </p:txBody>
          </p:sp>
        </p:grpSp>
      </p:grpSp>
      <p:sp>
        <p:nvSpPr>
          <p:cNvPr id="15" name="TextBox 14"/>
          <p:cNvSpPr txBox="1"/>
          <p:nvPr/>
        </p:nvSpPr>
        <p:spPr>
          <a:xfrm>
            <a:off x="-10613" y="4146540"/>
            <a:ext cx="5294829" cy="1200329"/>
          </a:xfrm>
          <a:prstGeom prst="rect">
            <a:avLst/>
          </a:prstGeom>
          <a:noFill/>
          <a:effectLst>
            <a:outerShdw blurRad="50800" dist="38100" algn="l" rotWithShape="0">
              <a:prstClr val="black">
                <a:alpha val="40000"/>
              </a:prstClr>
            </a:outerShdw>
          </a:effectLst>
        </p:spPr>
        <p:txBody>
          <a:bodyPr wrap="square" rtlCol="0">
            <a:spAutoFit/>
          </a:bodyPr>
          <a:lstStyle/>
          <a:p>
            <a:pPr algn="ctr"/>
            <a:r>
              <a:rPr lang="en-IN" sz="4000" b="1" dirty="0" smtClean="0">
                <a:solidFill>
                  <a:schemeClr val="bg1"/>
                </a:solidFill>
                <a:latin typeface="Bahnschrift" pitchFamily="34" charset="0"/>
              </a:rPr>
              <a:t>Nisha Abid Ali  Sayed</a:t>
            </a:r>
          </a:p>
          <a:p>
            <a:pPr algn="ctr"/>
            <a:r>
              <a:rPr lang="en-IN" sz="3200" b="1" dirty="0" smtClean="0">
                <a:solidFill>
                  <a:schemeClr val="bg1"/>
                </a:solidFill>
                <a:latin typeface="Bahnschrift" pitchFamily="34" charset="0"/>
              </a:rPr>
              <a:t>Roll No -321</a:t>
            </a:r>
            <a:endParaRPr lang="en-IN" sz="3200" b="1" dirty="0">
              <a:solidFill>
                <a:schemeClr val="bg1"/>
              </a:solidFill>
              <a:latin typeface="Bahnschrift" pitchFamily="34" charset="0"/>
            </a:endParaRPr>
          </a:p>
        </p:txBody>
      </p:sp>
      <p:sp>
        <p:nvSpPr>
          <p:cNvPr id="16" name="Rectangle 15"/>
          <p:cNvSpPr/>
          <p:nvPr/>
        </p:nvSpPr>
        <p:spPr>
          <a:xfrm>
            <a:off x="-10613" y="5274162"/>
            <a:ext cx="9161187" cy="878886"/>
          </a:xfrm>
          <a:prstGeom prst="rect">
            <a:avLst/>
          </a:prstGeom>
          <a:solidFill>
            <a:srgbClr val="FFC000">
              <a:alpha val="52000"/>
            </a:srgbClr>
          </a:solidFill>
          <a:ln w="7620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5400" dirty="0" smtClean="0">
                <a:solidFill>
                  <a:schemeClr val="bg1"/>
                </a:solidFill>
                <a:latin typeface="Bahnschrift" pitchFamily="34" charset="0"/>
              </a:rPr>
              <a:t>R </a:t>
            </a:r>
            <a:r>
              <a:rPr lang="en-IN" altLang="en-US" sz="5400" dirty="0">
                <a:solidFill>
                  <a:schemeClr val="bg1"/>
                </a:solidFill>
                <a:latin typeface="Bahnschrift" pitchFamily="34" charset="0"/>
              </a:rPr>
              <a:t>D &amp; S H National College</a:t>
            </a:r>
            <a:endParaRPr lang="en-IN" sz="5400" dirty="0">
              <a:solidFill>
                <a:schemeClr val="bg1"/>
              </a:solidFill>
              <a:latin typeface="Bahnschrift" pitchFamily="34" charset="0"/>
            </a:endParaRPr>
          </a:p>
        </p:txBody>
      </p:sp>
    </p:spTree>
    <p:extLst>
      <p:ext uri="{BB962C8B-B14F-4D97-AF65-F5344CB8AC3E}">
        <p14:creationId xmlns:p14="http://schemas.microsoft.com/office/powerpoint/2010/main" val="1712072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3.61111E-6 0 L 1.00017 0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26" presetClass="entr" presetSubtype="0" fill="hold" grpId="0" nodeType="after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80">
                                          <p:stCondLst>
                                            <p:cond delay="0"/>
                                          </p:stCondLst>
                                        </p:cTn>
                                        <p:tgtEl>
                                          <p:spTgt spid="15"/>
                                        </p:tgtEl>
                                      </p:cBhvr>
                                    </p:animEffect>
                                    <p:anim calcmode="lin" valueType="num">
                                      <p:cBhvr>
                                        <p:cTn id="11"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12"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3"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14"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15"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16" dur="26">
                                          <p:stCondLst>
                                            <p:cond delay="650"/>
                                          </p:stCondLst>
                                        </p:cTn>
                                        <p:tgtEl>
                                          <p:spTgt spid="15"/>
                                        </p:tgtEl>
                                      </p:cBhvr>
                                      <p:to x="100000" y="60000"/>
                                    </p:animScale>
                                    <p:animScale>
                                      <p:cBhvr>
                                        <p:cTn id="17" dur="166" decel="50000">
                                          <p:stCondLst>
                                            <p:cond delay="676"/>
                                          </p:stCondLst>
                                        </p:cTn>
                                        <p:tgtEl>
                                          <p:spTgt spid="15"/>
                                        </p:tgtEl>
                                      </p:cBhvr>
                                      <p:to x="100000" y="100000"/>
                                    </p:animScale>
                                    <p:animScale>
                                      <p:cBhvr>
                                        <p:cTn id="18" dur="26">
                                          <p:stCondLst>
                                            <p:cond delay="1312"/>
                                          </p:stCondLst>
                                        </p:cTn>
                                        <p:tgtEl>
                                          <p:spTgt spid="15"/>
                                        </p:tgtEl>
                                      </p:cBhvr>
                                      <p:to x="100000" y="80000"/>
                                    </p:animScale>
                                    <p:animScale>
                                      <p:cBhvr>
                                        <p:cTn id="19" dur="166" decel="50000">
                                          <p:stCondLst>
                                            <p:cond delay="1338"/>
                                          </p:stCondLst>
                                        </p:cTn>
                                        <p:tgtEl>
                                          <p:spTgt spid="15"/>
                                        </p:tgtEl>
                                      </p:cBhvr>
                                      <p:to x="100000" y="100000"/>
                                    </p:animScale>
                                    <p:animScale>
                                      <p:cBhvr>
                                        <p:cTn id="20" dur="26">
                                          <p:stCondLst>
                                            <p:cond delay="1642"/>
                                          </p:stCondLst>
                                        </p:cTn>
                                        <p:tgtEl>
                                          <p:spTgt spid="15"/>
                                        </p:tgtEl>
                                      </p:cBhvr>
                                      <p:to x="100000" y="90000"/>
                                    </p:animScale>
                                    <p:animScale>
                                      <p:cBhvr>
                                        <p:cTn id="21" dur="166" decel="50000">
                                          <p:stCondLst>
                                            <p:cond delay="1668"/>
                                          </p:stCondLst>
                                        </p:cTn>
                                        <p:tgtEl>
                                          <p:spTgt spid="15"/>
                                        </p:tgtEl>
                                      </p:cBhvr>
                                      <p:to x="100000" y="100000"/>
                                    </p:animScale>
                                    <p:animScale>
                                      <p:cBhvr>
                                        <p:cTn id="22" dur="26">
                                          <p:stCondLst>
                                            <p:cond delay="1808"/>
                                          </p:stCondLst>
                                        </p:cTn>
                                        <p:tgtEl>
                                          <p:spTgt spid="15"/>
                                        </p:tgtEl>
                                      </p:cBhvr>
                                      <p:to x="100000" y="95000"/>
                                    </p:animScale>
                                    <p:animScale>
                                      <p:cBhvr>
                                        <p:cTn id="23" dur="166" decel="50000">
                                          <p:stCondLst>
                                            <p:cond delay="1834"/>
                                          </p:stCondLst>
                                        </p:cTn>
                                        <p:tgtEl>
                                          <p:spTgt spid="15"/>
                                        </p:tgtEl>
                                      </p:cBhvr>
                                      <p:to x="100000" y="100000"/>
                                    </p:animScale>
                                  </p:childTnLst>
                                </p:cTn>
                              </p:par>
                              <p:par>
                                <p:cTn id="24" presetID="1"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6574" y="-1"/>
            <a:ext cx="9161187" cy="6857999"/>
            <a:chOff x="-9144000" y="0"/>
            <a:chExt cx="9161187" cy="6858000"/>
          </a:xfrm>
        </p:grpSpPr>
        <p:sp>
          <p:nvSpPr>
            <p:cNvPr id="17" name="Rectangle 16"/>
            <p:cNvSpPr/>
            <p:nvPr/>
          </p:nvSpPr>
          <p:spPr>
            <a:xfrm>
              <a:off x="-9144000" y="0"/>
              <a:ext cx="9144000"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8" name="Group 17"/>
            <p:cNvGrpSpPr/>
            <p:nvPr/>
          </p:nvGrpSpPr>
          <p:grpSpPr>
            <a:xfrm>
              <a:off x="-522365" y="1736812"/>
              <a:ext cx="539552" cy="3384375"/>
              <a:chOff x="-522365" y="1736812"/>
              <a:chExt cx="539552" cy="3384375"/>
            </a:xfrm>
          </p:grpSpPr>
          <p:sp>
            <p:nvSpPr>
              <p:cNvPr id="21" name="Rounded Rectangle 20"/>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About Me</a:t>
                </a:r>
                <a:endParaRPr lang="en-IN" sz="2400" b="1" dirty="0">
                  <a:latin typeface="Bahnschrift Light" pitchFamily="34" charset="0"/>
                </a:endParaRPr>
              </a:p>
            </p:txBody>
          </p:sp>
        </p:grpSp>
      </p:grpSp>
      <p:sp>
        <p:nvSpPr>
          <p:cNvPr id="20" name="TextBox 19"/>
          <p:cNvSpPr txBox="1"/>
          <p:nvPr/>
        </p:nvSpPr>
        <p:spPr>
          <a:xfrm>
            <a:off x="6574" y="248116"/>
            <a:ext cx="9137426" cy="732612"/>
          </a:xfrm>
          <a:prstGeom prst="rect">
            <a:avLst/>
          </a:prstGeom>
          <a:solidFill>
            <a:srgbClr val="FFC000">
              <a:alpha val="52000"/>
            </a:srgbClr>
          </a:solidFill>
          <a:ln w="7620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5400">
                <a:solidFill>
                  <a:schemeClr val="bg1"/>
                </a:solidFill>
                <a:latin typeface="Bahnschrift"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dirty="0"/>
              <a:t>E-Commerce</a:t>
            </a:r>
          </a:p>
        </p:txBody>
      </p:sp>
    </p:spTree>
    <p:extLst>
      <p:ext uri="{BB962C8B-B14F-4D97-AF65-F5344CB8AC3E}">
        <p14:creationId xmlns:p14="http://schemas.microsoft.com/office/powerpoint/2010/main" val="71159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0"/>
                                        </p:tgtEl>
                                        <p:attrNameLst>
                                          <p:attrName>ppt_y</p:attrName>
                                        </p:attrNameLst>
                                      </p:cBhvr>
                                      <p:tavLst>
                                        <p:tav tm="0">
                                          <p:val>
                                            <p:strVal val="#ppt_y"/>
                                          </p:val>
                                        </p:tav>
                                        <p:tav tm="100000">
                                          <p:val>
                                            <p:strVal val="#ppt_y"/>
                                          </p:val>
                                        </p:tav>
                                      </p:tavLst>
                                    </p:anim>
                                    <p:anim calcmode="lin" valueType="num">
                                      <p:cBhvr>
                                        <p:cTn id="9" dur="500" fill="hold"/>
                                        <p:tgtEl>
                                          <p:spTgt spid="20"/>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6574" y="-1"/>
            <a:ext cx="9161187" cy="6857999"/>
            <a:chOff x="6574" y="-1"/>
            <a:chExt cx="9161187" cy="6857999"/>
          </a:xfrm>
        </p:grpSpPr>
        <p:sp>
          <p:nvSpPr>
            <p:cNvPr id="18" name="Rectangle 17"/>
            <p:cNvSpPr/>
            <p:nvPr/>
          </p:nvSpPr>
          <p:spPr>
            <a:xfrm>
              <a:off x="6574" y="-1"/>
              <a:ext cx="9144000" cy="6857999"/>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 name="Group 2"/>
            <p:cNvGrpSpPr/>
            <p:nvPr/>
          </p:nvGrpSpPr>
          <p:grpSpPr>
            <a:xfrm>
              <a:off x="8628209" y="1736811"/>
              <a:ext cx="539552" cy="3384375"/>
              <a:chOff x="8628209" y="1736811"/>
              <a:chExt cx="539552" cy="3384375"/>
            </a:xfrm>
          </p:grpSpPr>
          <p:sp>
            <p:nvSpPr>
              <p:cNvPr id="9" name="Rounded Rectangle 8"/>
              <p:cNvSpPr/>
              <p:nvPr/>
            </p:nvSpPr>
            <p:spPr>
              <a:xfrm>
                <a:off x="8628209" y="1736811"/>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p:cNvSpPr txBox="1"/>
              <p:nvPr/>
            </p:nvSpPr>
            <p:spPr>
              <a:xfrm rot="16200000">
                <a:off x="7318683" y="3198167"/>
                <a:ext cx="3138770" cy="461665"/>
              </a:xfrm>
              <a:prstGeom prst="rect">
                <a:avLst/>
              </a:prstGeom>
              <a:noFill/>
            </p:spPr>
            <p:txBody>
              <a:bodyPr wrap="square" rtlCol="0">
                <a:spAutoFit/>
              </a:bodyPr>
              <a:lstStyle/>
              <a:p>
                <a:pPr algn="ctr"/>
                <a:r>
                  <a:rPr lang="en-IN" sz="2400" b="1" dirty="0" smtClean="0">
                    <a:latin typeface="Bahnschrift Light" pitchFamily="34" charset="0"/>
                  </a:rPr>
                  <a:t>About Me</a:t>
                </a:r>
                <a:endParaRPr lang="en-IN" sz="2400" b="1" dirty="0">
                  <a:latin typeface="Bahnschrift Light" pitchFamily="34" charset="0"/>
                </a:endParaRPr>
              </a:p>
            </p:txBody>
          </p:sp>
        </p:grpSp>
      </p:grpSp>
      <p:grpSp>
        <p:nvGrpSpPr>
          <p:cNvPr id="11" name="Group 10"/>
          <p:cNvGrpSpPr/>
          <p:nvPr/>
        </p:nvGrpSpPr>
        <p:grpSpPr>
          <a:xfrm>
            <a:off x="-9154613" y="0"/>
            <a:ext cx="9161187" cy="6858000"/>
            <a:chOff x="-9144000" y="0"/>
            <a:chExt cx="9161187" cy="6858000"/>
          </a:xfrm>
          <a:solidFill>
            <a:schemeClr val="bg1">
              <a:lumMod val="95000"/>
            </a:schemeClr>
          </a:solidFill>
        </p:grpSpPr>
        <p:sp>
          <p:nvSpPr>
            <p:cNvPr id="4" name="Rectangle 3"/>
            <p:cNvSpPr/>
            <p:nvPr/>
          </p:nvSpPr>
          <p:spPr>
            <a:xfrm>
              <a:off x="-9144000" y="0"/>
              <a:ext cx="9144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a:grpFill/>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What is E-Commerce</a:t>
                </a:r>
                <a:endParaRPr lang="en-IN" sz="2400" b="1" dirty="0">
                  <a:latin typeface="Bahnschrift Light" pitchFamily="34" charset="0"/>
                </a:endParaRPr>
              </a:p>
            </p:txBody>
          </p:sp>
        </p:grpSp>
      </p:grpSp>
      <p:sp>
        <p:nvSpPr>
          <p:cNvPr id="2" name="Rectangle 1"/>
          <p:cNvSpPr/>
          <p:nvPr/>
        </p:nvSpPr>
        <p:spPr>
          <a:xfrm>
            <a:off x="1384201" y="1413064"/>
            <a:ext cx="6375598" cy="4031873"/>
          </a:xfrm>
          <a:prstGeom prst="rect">
            <a:avLst/>
          </a:prstGeom>
        </p:spPr>
        <p:txBody>
          <a:bodyPr wrap="square">
            <a:spAutoFit/>
          </a:bodyPr>
          <a:lstStyle/>
          <a:p>
            <a:pPr algn="ctr"/>
            <a:endParaRPr lang="en-IN" altLang="en-US" sz="3200" noProof="1" smtClean="0">
              <a:latin typeface="Bahnschrift" pitchFamily="34" charset="0"/>
            </a:endParaRPr>
          </a:p>
          <a:p>
            <a:pPr algn="ctr"/>
            <a:r>
              <a:rPr lang="en-IN" altLang="en-US" sz="3200" noProof="1" smtClean="0">
                <a:latin typeface="Bahnschrift" pitchFamily="34" charset="0"/>
              </a:rPr>
              <a:t>Commonly known as Electronic Commerce.</a:t>
            </a:r>
          </a:p>
          <a:p>
            <a:pPr algn="ctr"/>
            <a:endParaRPr lang="en-IN" altLang="en-US" sz="3200" noProof="1" smtClean="0">
              <a:latin typeface="Bahnschrift" pitchFamily="34" charset="0"/>
            </a:endParaRPr>
          </a:p>
          <a:p>
            <a:pPr algn="ctr"/>
            <a:r>
              <a:rPr lang="en-IN" altLang="en-US" sz="3200" noProof="1" smtClean="0">
                <a:latin typeface="Bahnschrift" pitchFamily="34" charset="0"/>
              </a:rPr>
              <a:t>“ It consist of buying selling goods and services over an electronic systems Such as the internet and other computer networks.”</a:t>
            </a:r>
            <a:endParaRPr lang="en-IN" altLang="en-US" sz="3200" noProof="1">
              <a:latin typeface="Bahnschrift" pitchFamily="34" charset="0"/>
            </a:endParaRPr>
          </a:p>
        </p:txBody>
      </p:sp>
    </p:spTree>
    <p:extLst>
      <p:ext uri="{BB962C8B-B14F-4D97-AF65-F5344CB8AC3E}">
        <p14:creationId xmlns:p14="http://schemas.microsoft.com/office/powerpoint/2010/main" val="2930598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3.61111E-6 -1.96532E-6 L 1.00017 -1.96532E-6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2"/>
                                        </p:tgtEl>
                                        <p:attrNameLst>
                                          <p:attrName>style.visibility</p:attrName>
                                        </p:attrNameLst>
                                      </p:cBhvr>
                                      <p:to>
                                        <p:strVal val="visible"/>
                                      </p:to>
                                    </p:set>
                                    <p:anim calcmode="lin" valueType="num">
                                      <p:cBhvr>
                                        <p:cTn id="10"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2"/>
                                        </p:tgtEl>
                                        <p:attrNameLst>
                                          <p:attrName>ppt_y</p:attrName>
                                        </p:attrNameLst>
                                      </p:cBhvr>
                                      <p:tavLst>
                                        <p:tav tm="0">
                                          <p:val>
                                            <p:strVal val="#ppt_y"/>
                                          </p:val>
                                        </p:tav>
                                        <p:tav tm="100000">
                                          <p:val>
                                            <p:strVal val="#ppt_y"/>
                                          </p:val>
                                        </p:tav>
                                      </p:tavLst>
                                    </p:anim>
                                    <p:anim calcmode="lin" valueType="num">
                                      <p:cBhvr>
                                        <p:cTn id="12"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574" y="0"/>
            <a:ext cx="9161187" cy="6858000"/>
            <a:chOff x="-9144000" y="0"/>
            <a:chExt cx="9161187" cy="6858000"/>
          </a:xfrm>
        </p:grpSpPr>
        <p:sp>
          <p:nvSpPr>
            <p:cNvPr id="12" name="Rectangle 11"/>
            <p:cNvSpPr/>
            <p:nvPr/>
          </p:nvSpPr>
          <p:spPr>
            <a:xfrm>
              <a:off x="-914400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3" name="Group 12"/>
            <p:cNvGrpSpPr/>
            <p:nvPr/>
          </p:nvGrpSpPr>
          <p:grpSpPr>
            <a:xfrm>
              <a:off x="-522365" y="1736812"/>
              <a:ext cx="539552" cy="3384375"/>
              <a:chOff x="-522365" y="1736812"/>
              <a:chExt cx="539552" cy="3384375"/>
            </a:xfrm>
          </p:grpSpPr>
          <p:sp>
            <p:nvSpPr>
              <p:cNvPr id="14" name="Rounded Rectangle 13"/>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What is E-Commerce</a:t>
                </a:r>
                <a:endParaRPr lang="en-IN" sz="2400" b="1" dirty="0">
                  <a:latin typeface="Bahnschrift Light" pitchFamily="34" charset="0"/>
                </a:endParaRPr>
              </a:p>
            </p:txBody>
          </p:sp>
        </p:grpSp>
      </p:grpSp>
      <p:grpSp>
        <p:nvGrpSpPr>
          <p:cNvPr id="11" name="Group 10"/>
          <p:cNvGrpSpPr/>
          <p:nvPr/>
        </p:nvGrpSpPr>
        <p:grpSpPr>
          <a:xfrm>
            <a:off x="-9154613" y="0"/>
            <a:ext cx="9161187" cy="6858000"/>
            <a:chOff x="-9144000" y="0"/>
            <a:chExt cx="9161187" cy="6858000"/>
          </a:xfrm>
          <a:solidFill>
            <a:schemeClr val="bg1">
              <a:lumMod val="95000"/>
            </a:schemeClr>
          </a:solidFill>
        </p:grpSpPr>
        <p:sp>
          <p:nvSpPr>
            <p:cNvPr id="4" name="Rectangle 3"/>
            <p:cNvSpPr/>
            <p:nvPr/>
          </p:nvSpPr>
          <p:spPr>
            <a:xfrm>
              <a:off x="-9144000" y="0"/>
              <a:ext cx="9144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a:grpFill/>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Definition </a:t>
                </a:r>
                <a:endParaRPr lang="en-IN" sz="2400" b="1" dirty="0">
                  <a:latin typeface="Bahnschrift Light" pitchFamily="34" charset="0"/>
                </a:endParaRPr>
              </a:p>
            </p:txBody>
          </p:sp>
        </p:grpSp>
      </p:grpSp>
      <p:sp>
        <p:nvSpPr>
          <p:cNvPr id="2" name="Rectangle 1"/>
          <p:cNvSpPr/>
          <p:nvPr/>
        </p:nvSpPr>
        <p:spPr>
          <a:xfrm>
            <a:off x="971600" y="674400"/>
            <a:ext cx="7200800" cy="5509200"/>
          </a:xfrm>
          <a:prstGeom prst="rect">
            <a:avLst/>
          </a:prstGeom>
        </p:spPr>
        <p:txBody>
          <a:bodyPr wrap="square">
            <a:spAutoFit/>
          </a:bodyPr>
          <a:lstStyle/>
          <a:p>
            <a:pPr algn="ctr"/>
            <a:r>
              <a:rPr lang="en-US" sz="3200" dirty="0">
                <a:latin typeface="Bahnschrift" pitchFamily="34" charset="0"/>
              </a:rPr>
              <a:t>Ecommerce, also known as electronic commerce or internet commerce, refers to the buying and selling of goods or services using the internet, and the transfer of money and data to execute these transactions. Ecommerce is often used to refer to the sale of physical products online, but it can also describe any kind of commercial transaction that is facilitated through the internet.</a:t>
            </a:r>
            <a:endParaRPr lang="en-IN" altLang="en-US" sz="3200" noProof="1">
              <a:latin typeface="Bahnschrift" pitchFamily="34" charset="0"/>
            </a:endParaRPr>
          </a:p>
        </p:txBody>
      </p:sp>
    </p:spTree>
    <p:extLst>
      <p:ext uri="{BB962C8B-B14F-4D97-AF65-F5344CB8AC3E}">
        <p14:creationId xmlns:p14="http://schemas.microsoft.com/office/powerpoint/2010/main" val="13024416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3.61111E-6 -1.96532E-6 L 1.00017 -1.96532E-6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2"/>
                                        </p:tgtEl>
                                        <p:attrNameLst>
                                          <p:attrName>style.visibility</p:attrName>
                                        </p:attrNameLst>
                                      </p:cBhvr>
                                      <p:to>
                                        <p:strVal val="visible"/>
                                      </p:to>
                                    </p:set>
                                    <p:anim calcmode="lin" valueType="num">
                                      <p:cBhvr>
                                        <p:cTn id="10"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2"/>
                                        </p:tgtEl>
                                        <p:attrNameLst>
                                          <p:attrName>ppt_y</p:attrName>
                                        </p:attrNameLst>
                                      </p:cBhvr>
                                      <p:tavLst>
                                        <p:tav tm="0">
                                          <p:val>
                                            <p:strVal val="#ppt_y"/>
                                          </p:val>
                                        </p:tav>
                                        <p:tav tm="100000">
                                          <p:val>
                                            <p:strVal val="#ppt_y"/>
                                          </p:val>
                                        </p:tav>
                                      </p:tavLst>
                                    </p:anim>
                                    <p:anim calcmode="lin" valueType="num">
                                      <p:cBhvr>
                                        <p:cTn id="12"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574" y="0"/>
            <a:ext cx="9161187" cy="6858000"/>
            <a:chOff x="-9144000" y="0"/>
            <a:chExt cx="9161187" cy="6858000"/>
          </a:xfrm>
        </p:grpSpPr>
        <p:sp>
          <p:nvSpPr>
            <p:cNvPr id="12" name="Rectangle 11"/>
            <p:cNvSpPr/>
            <p:nvPr/>
          </p:nvSpPr>
          <p:spPr>
            <a:xfrm>
              <a:off x="-914400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3" name="Group 12"/>
            <p:cNvGrpSpPr/>
            <p:nvPr/>
          </p:nvGrpSpPr>
          <p:grpSpPr>
            <a:xfrm>
              <a:off x="-522365" y="1736812"/>
              <a:ext cx="539552" cy="3384375"/>
              <a:chOff x="-522365" y="1736812"/>
              <a:chExt cx="539552" cy="3384375"/>
            </a:xfrm>
          </p:grpSpPr>
          <p:sp>
            <p:nvSpPr>
              <p:cNvPr id="14" name="Rounded Rectangle 13"/>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Definition </a:t>
                </a:r>
                <a:endParaRPr lang="en-IN" sz="2400" b="1" dirty="0">
                  <a:latin typeface="Bahnschrift Light" pitchFamily="34" charset="0"/>
                </a:endParaRPr>
              </a:p>
            </p:txBody>
          </p:sp>
        </p:grpSp>
      </p:grpSp>
      <p:grpSp>
        <p:nvGrpSpPr>
          <p:cNvPr id="11" name="Group 10"/>
          <p:cNvGrpSpPr/>
          <p:nvPr/>
        </p:nvGrpSpPr>
        <p:grpSpPr>
          <a:xfrm>
            <a:off x="-9154613" y="0"/>
            <a:ext cx="9161187" cy="6858000"/>
            <a:chOff x="-9144000" y="0"/>
            <a:chExt cx="9161187" cy="6858000"/>
          </a:xfrm>
          <a:solidFill>
            <a:schemeClr val="bg1">
              <a:lumMod val="95000"/>
            </a:schemeClr>
          </a:solidFill>
        </p:grpSpPr>
        <p:sp>
          <p:nvSpPr>
            <p:cNvPr id="4" name="Rectangle 3"/>
            <p:cNvSpPr/>
            <p:nvPr/>
          </p:nvSpPr>
          <p:spPr>
            <a:xfrm>
              <a:off x="-9144000" y="0"/>
              <a:ext cx="9144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a:grpFill/>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Features </a:t>
                </a:r>
                <a:endParaRPr lang="en-IN" sz="2400" b="1" dirty="0">
                  <a:latin typeface="Bahnschrift Light" pitchFamily="34" charset="0"/>
                </a:endParaRPr>
              </a:p>
            </p:txBody>
          </p:sp>
        </p:grpSp>
      </p:grpSp>
      <p:sp>
        <p:nvSpPr>
          <p:cNvPr id="30" name="TextBox 29"/>
          <p:cNvSpPr txBox="1"/>
          <p:nvPr/>
        </p:nvSpPr>
        <p:spPr>
          <a:xfrm>
            <a:off x="2087724" y="248116"/>
            <a:ext cx="4968552" cy="643253"/>
          </a:xfrm>
          <a:prstGeom prst="rect">
            <a:avLst/>
          </a:prstGeom>
          <a:noFill/>
        </p:spPr>
        <p:txBody>
          <a:bodyPr wrap="square" rtlCol="0">
            <a:normAutofit/>
          </a:bodyPr>
          <a:lstStyle/>
          <a:p>
            <a:pPr algn="ctr"/>
            <a:r>
              <a:rPr lang="en-IN" sz="3200" dirty="0" smtClean="0">
                <a:latin typeface="Bahnschrift" pitchFamily="34" charset="0"/>
              </a:rPr>
              <a:t>Features </a:t>
            </a:r>
            <a:r>
              <a:rPr lang="en-IN" sz="3200" dirty="0">
                <a:latin typeface="Bahnschrift" pitchFamily="34" charset="0"/>
              </a:rPr>
              <a:t>of </a:t>
            </a:r>
            <a:r>
              <a:rPr lang="en-IN" sz="3200" dirty="0" smtClean="0">
                <a:latin typeface="Bahnschrift" pitchFamily="34" charset="0"/>
              </a:rPr>
              <a:t>E-Commerce</a:t>
            </a:r>
            <a:endParaRPr lang="en-IN" sz="3200" dirty="0">
              <a:latin typeface="Bahnschrift" pitchFamily="34" charset="0"/>
            </a:endParaRPr>
          </a:p>
        </p:txBody>
      </p:sp>
      <p:grpSp>
        <p:nvGrpSpPr>
          <p:cNvPr id="48" name="Group 47"/>
          <p:cNvGrpSpPr/>
          <p:nvPr/>
        </p:nvGrpSpPr>
        <p:grpSpPr>
          <a:xfrm>
            <a:off x="4354742" y="836712"/>
            <a:ext cx="434516" cy="5184576"/>
            <a:chOff x="4281500" y="836712"/>
            <a:chExt cx="578532" cy="5184576"/>
          </a:xfrm>
        </p:grpSpPr>
        <p:sp>
          <p:nvSpPr>
            <p:cNvPr id="49" name="Rounded Rectangle 48"/>
            <p:cNvSpPr/>
            <p:nvPr/>
          </p:nvSpPr>
          <p:spPr>
            <a:xfrm>
              <a:off x="4281500" y="836712"/>
              <a:ext cx="578532" cy="5184576"/>
            </a:xfrm>
            <a:prstGeom prst="roundRect">
              <a:avLst>
                <a:gd name="adj" fmla="val 50000"/>
              </a:avLst>
            </a:prstGeom>
            <a:solidFill>
              <a:schemeClr val="bg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Rounded Rectangle 49"/>
            <p:cNvSpPr/>
            <p:nvPr/>
          </p:nvSpPr>
          <p:spPr>
            <a:xfrm>
              <a:off x="4429218" y="1052736"/>
              <a:ext cx="285564" cy="4752528"/>
            </a:xfrm>
            <a:prstGeom prst="roundRect">
              <a:avLst>
                <a:gd name="adj" fmla="val 50000"/>
              </a:avLst>
            </a:prstGeom>
            <a:solidFill>
              <a:srgbClr val="FFC00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51" name="Group 50"/>
          <p:cNvGrpSpPr/>
          <p:nvPr/>
        </p:nvGrpSpPr>
        <p:grpSpPr>
          <a:xfrm>
            <a:off x="754342" y="1052736"/>
            <a:ext cx="3600400" cy="662864"/>
            <a:chOff x="611560" y="1405380"/>
            <a:chExt cx="3600400" cy="662864"/>
          </a:xfrm>
        </p:grpSpPr>
        <p:sp>
          <p:nvSpPr>
            <p:cNvPr id="52" name="Rounded Rectangle 51"/>
            <p:cNvSpPr/>
            <p:nvPr/>
          </p:nvSpPr>
          <p:spPr>
            <a:xfrm>
              <a:off x="611560" y="1405380"/>
              <a:ext cx="3600400" cy="662864"/>
            </a:xfrm>
            <a:prstGeom prst="roundRect">
              <a:avLst>
                <a:gd name="adj" fmla="val 50000"/>
              </a:avLst>
            </a:prstGeom>
            <a:solidFill>
              <a:schemeClr val="bg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200" dirty="0">
                <a:solidFill>
                  <a:schemeClr val="tx1"/>
                </a:solidFill>
                <a:latin typeface="Bahnschrift" pitchFamily="34" charset="0"/>
              </a:endParaRPr>
            </a:p>
          </p:txBody>
        </p:sp>
        <p:sp>
          <p:nvSpPr>
            <p:cNvPr id="53" name="Rounded Rectangle 52"/>
            <p:cNvSpPr/>
            <p:nvPr/>
          </p:nvSpPr>
          <p:spPr>
            <a:xfrm>
              <a:off x="683568" y="1488240"/>
              <a:ext cx="3456384" cy="497144"/>
            </a:xfrm>
            <a:prstGeom prst="roundRect">
              <a:avLst>
                <a:gd name="adj" fmla="val 50000"/>
              </a:avLst>
            </a:prstGeom>
            <a:solidFill>
              <a:srgbClr val="FFC00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900" dirty="0">
                  <a:solidFill>
                    <a:schemeClr val="tx1"/>
                  </a:solidFill>
                </a:rPr>
                <a:t>Ubiquity</a:t>
              </a:r>
            </a:p>
          </p:txBody>
        </p:sp>
      </p:grpSp>
      <p:grpSp>
        <p:nvGrpSpPr>
          <p:cNvPr id="66" name="Group 65"/>
          <p:cNvGrpSpPr/>
          <p:nvPr/>
        </p:nvGrpSpPr>
        <p:grpSpPr>
          <a:xfrm>
            <a:off x="4789258" y="1052736"/>
            <a:ext cx="3600400" cy="662864"/>
            <a:chOff x="611560" y="1405380"/>
            <a:chExt cx="3600400" cy="662864"/>
          </a:xfrm>
        </p:grpSpPr>
        <p:sp>
          <p:nvSpPr>
            <p:cNvPr id="67" name="Rounded Rectangle 66"/>
            <p:cNvSpPr/>
            <p:nvPr/>
          </p:nvSpPr>
          <p:spPr>
            <a:xfrm>
              <a:off x="611560" y="1405380"/>
              <a:ext cx="3600400" cy="662864"/>
            </a:xfrm>
            <a:prstGeom prst="roundRect">
              <a:avLst>
                <a:gd name="adj" fmla="val 50000"/>
              </a:avLst>
            </a:prstGeom>
            <a:solidFill>
              <a:schemeClr val="bg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200" dirty="0">
                <a:solidFill>
                  <a:schemeClr val="tx1"/>
                </a:solidFill>
                <a:latin typeface="Bahnschrift" pitchFamily="34" charset="0"/>
              </a:endParaRPr>
            </a:p>
          </p:txBody>
        </p:sp>
        <p:sp>
          <p:nvSpPr>
            <p:cNvPr id="68" name="Rounded Rectangle 67"/>
            <p:cNvSpPr/>
            <p:nvPr/>
          </p:nvSpPr>
          <p:spPr>
            <a:xfrm>
              <a:off x="683568" y="1488240"/>
              <a:ext cx="3456384" cy="497144"/>
            </a:xfrm>
            <a:prstGeom prst="roundRect">
              <a:avLst>
                <a:gd name="adj" fmla="val 50000"/>
              </a:avLst>
            </a:prstGeom>
            <a:solidFill>
              <a:srgbClr val="FFC00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900" dirty="0">
                  <a:solidFill>
                    <a:schemeClr val="tx1"/>
                  </a:solidFill>
                </a:rPr>
                <a:t>Global</a:t>
              </a:r>
              <a:r>
                <a:rPr lang="en-IN" sz="3200" dirty="0" smtClean="0">
                  <a:solidFill>
                    <a:schemeClr val="tx1"/>
                  </a:solidFill>
                </a:rPr>
                <a:t> </a:t>
              </a:r>
              <a:r>
                <a:rPr lang="en-IN" sz="2900" dirty="0">
                  <a:solidFill>
                    <a:schemeClr val="tx1"/>
                  </a:solidFill>
                </a:rPr>
                <a:t>Reach</a:t>
              </a:r>
            </a:p>
          </p:txBody>
        </p:sp>
      </p:grpSp>
      <p:grpSp>
        <p:nvGrpSpPr>
          <p:cNvPr id="69" name="Group 68"/>
          <p:cNvGrpSpPr/>
          <p:nvPr/>
        </p:nvGrpSpPr>
        <p:grpSpPr>
          <a:xfrm>
            <a:off x="754342" y="2276872"/>
            <a:ext cx="3600400" cy="662864"/>
            <a:chOff x="611560" y="1405380"/>
            <a:chExt cx="3600400" cy="662864"/>
          </a:xfrm>
        </p:grpSpPr>
        <p:sp>
          <p:nvSpPr>
            <p:cNvPr id="70" name="Rounded Rectangle 69"/>
            <p:cNvSpPr/>
            <p:nvPr/>
          </p:nvSpPr>
          <p:spPr>
            <a:xfrm>
              <a:off x="611560" y="1405380"/>
              <a:ext cx="3600400" cy="662864"/>
            </a:xfrm>
            <a:prstGeom prst="roundRect">
              <a:avLst>
                <a:gd name="adj" fmla="val 50000"/>
              </a:avLst>
            </a:prstGeom>
            <a:solidFill>
              <a:schemeClr val="bg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200" dirty="0">
                <a:solidFill>
                  <a:schemeClr val="tx1"/>
                </a:solidFill>
                <a:latin typeface="Bahnschrift" pitchFamily="34" charset="0"/>
              </a:endParaRPr>
            </a:p>
          </p:txBody>
        </p:sp>
        <p:sp>
          <p:nvSpPr>
            <p:cNvPr id="71" name="Rounded Rectangle 70"/>
            <p:cNvSpPr/>
            <p:nvPr/>
          </p:nvSpPr>
          <p:spPr>
            <a:xfrm>
              <a:off x="683568" y="1488240"/>
              <a:ext cx="3456384" cy="497144"/>
            </a:xfrm>
            <a:prstGeom prst="roundRect">
              <a:avLst>
                <a:gd name="adj" fmla="val 50000"/>
              </a:avLst>
            </a:prstGeom>
            <a:solidFill>
              <a:srgbClr val="FFC00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900" dirty="0">
                  <a:solidFill>
                    <a:schemeClr val="tx1"/>
                  </a:solidFill>
                </a:rPr>
                <a:t>Richness</a:t>
              </a:r>
            </a:p>
          </p:txBody>
        </p:sp>
      </p:grpSp>
      <p:grpSp>
        <p:nvGrpSpPr>
          <p:cNvPr id="72" name="Group 71"/>
          <p:cNvGrpSpPr/>
          <p:nvPr/>
        </p:nvGrpSpPr>
        <p:grpSpPr>
          <a:xfrm>
            <a:off x="4789258" y="2276872"/>
            <a:ext cx="3600400" cy="662864"/>
            <a:chOff x="611560" y="1405380"/>
            <a:chExt cx="3600400" cy="662864"/>
          </a:xfrm>
        </p:grpSpPr>
        <p:sp>
          <p:nvSpPr>
            <p:cNvPr id="73" name="Rounded Rectangle 72"/>
            <p:cNvSpPr/>
            <p:nvPr/>
          </p:nvSpPr>
          <p:spPr>
            <a:xfrm>
              <a:off x="611560" y="1405380"/>
              <a:ext cx="3600400" cy="662864"/>
            </a:xfrm>
            <a:prstGeom prst="roundRect">
              <a:avLst>
                <a:gd name="adj" fmla="val 50000"/>
              </a:avLst>
            </a:prstGeom>
            <a:solidFill>
              <a:schemeClr val="bg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200" dirty="0">
                <a:solidFill>
                  <a:schemeClr val="tx1"/>
                </a:solidFill>
                <a:latin typeface="Bahnschrift" pitchFamily="34" charset="0"/>
              </a:endParaRPr>
            </a:p>
          </p:txBody>
        </p:sp>
        <p:sp>
          <p:nvSpPr>
            <p:cNvPr id="74" name="Rounded Rectangle 73"/>
            <p:cNvSpPr/>
            <p:nvPr/>
          </p:nvSpPr>
          <p:spPr>
            <a:xfrm>
              <a:off x="683568" y="1488240"/>
              <a:ext cx="3456384" cy="497144"/>
            </a:xfrm>
            <a:prstGeom prst="roundRect">
              <a:avLst>
                <a:gd name="adj" fmla="val 50000"/>
              </a:avLst>
            </a:prstGeom>
            <a:solidFill>
              <a:srgbClr val="FFC00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900" dirty="0">
                  <a:solidFill>
                    <a:schemeClr val="tx1"/>
                  </a:solidFill>
                </a:rPr>
                <a:t>Universal</a:t>
              </a:r>
              <a:r>
                <a:rPr lang="en-IN" sz="3200" dirty="0" smtClean="0">
                  <a:solidFill>
                    <a:schemeClr val="tx1"/>
                  </a:solidFill>
                </a:rPr>
                <a:t> </a:t>
              </a:r>
              <a:r>
                <a:rPr lang="en-IN" sz="2900" dirty="0" smtClean="0">
                  <a:solidFill>
                    <a:schemeClr val="tx1"/>
                  </a:solidFill>
                </a:rPr>
                <a:t>Standards</a:t>
              </a:r>
              <a:endParaRPr lang="en-IN" sz="2900" dirty="0">
                <a:solidFill>
                  <a:schemeClr val="tx1"/>
                </a:solidFill>
              </a:endParaRPr>
            </a:p>
          </p:txBody>
        </p:sp>
      </p:grpSp>
      <p:grpSp>
        <p:nvGrpSpPr>
          <p:cNvPr id="75" name="Group 74"/>
          <p:cNvGrpSpPr/>
          <p:nvPr/>
        </p:nvGrpSpPr>
        <p:grpSpPr>
          <a:xfrm>
            <a:off x="754342" y="3573016"/>
            <a:ext cx="3600400" cy="662864"/>
            <a:chOff x="611560" y="1405380"/>
            <a:chExt cx="3600400" cy="662864"/>
          </a:xfrm>
        </p:grpSpPr>
        <p:sp>
          <p:nvSpPr>
            <p:cNvPr id="76" name="Rounded Rectangle 75"/>
            <p:cNvSpPr/>
            <p:nvPr/>
          </p:nvSpPr>
          <p:spPr>
            <a:xfrm>
              <a:off x="611560" y="1405380"/>
              <a:ext cx="3600400" cy="662864"/>
            </a:xfrm>
            <a:prstGeom prst="roundRect">
              <a:avLst>
                <a:gd name="adj" fmla="val 50000"/>
              </a:avLst>
            </a:prstGeom>
            <a:solidFill>
              <a:schemeClr val="bg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200" dirty="0">
                <a:solidFill>
                  <a:schemeClr val="tx1"/>
                </a:solidFill>
                <a:latin typeface="Bahnschrift" pitchFamily="34" charset="0"/>
              </a:endParaRPr>
            </a:p>
          </p:txBody>
        </p:sp>
        <p:sp>
          <p:nvSpPr>
            <p:cNvPr id="77" name="Rounded Rectangle 76"/>
            <p:cNvSpPr/>
            <p:nvPr/>
          </p:nvSpPr>
          <p:spPr>
            <a:xfrm>
              <a:off x="683568" y="1488240"/>
              <a:ext cx="3456384" cy="497144"/>
            </a:xfrm>
            <a:prstGeom prst="roundRect">
              <a:avLst>
                <a:gd name="adj" fmla="val 50000"/>
              </a:avLst>
            </a:prstGeom>
            <a:solidFill>
              <a:srgbClr val="FFC00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900" dirty="0">
                  <a:solidFill>
                    <a:schemeClr val="tx1"/>
                  </a:solidFill>
                </a:rPr>
                <a:t>Interactivity</a:t>
              </a:r>
            </a:p>
          </p:txBody>
        </p:sp>
      </p:grpSp>
      <p:grpSp>
        <p:nvGrpSpPr>
          <p:cNvPr id="78" name="Group 77"/>
          <p:cNvGrpSpPr/>
          <p:nvPr/>
        </p:nvGrpSpPr>
        <p:grpSpPr>
          <a:xfrm>
            <a:off x="4789258" y="3573016"/>
            <a:ext cx="3600400" cy="662864"/>
            <a:chOff x="611560" y="1405380"/>
            <a:chExt cx="3600400" cy="662864"/>
          </a:xfrm>
        </p:grpSpPr>
        <p:sp>
          <p:nvSpPr>
            <p:cNvPr id="79" name="Rounded Rectangle 78"/>
            <p:cNvSpPr/>
            <p:nvPr/>
          </p:nvSpPr>
          <p:spPr>
            <a:xfrm>
              <a:off x="611560" y="1405380"/>
              <a:ext cx="3600400" cy="662864"/>
            </a:xfrm>
            <a:prstGeom prst="roundRect">
              <a:avLst>
                <a:gd name="adj" fmla="val 50000"/>
              </a:avLst>
            </a:prstGeom>
            <a:solidFill>
              <a:schemeClr val="bg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200" dirty="0">
                <a:solidFill>
                  <a:schemeClr val="tx1"/>
                </a:solidFill>
                <a:latin typeface="Bahnschrift" pitchFamily="34" charset="0"/>
              </a:endParaRPr>
            </a:p>
          </p:txBody>
        </p:sp>
        <p:sp>
          <p:nvSpPr>
            <p:cNvPr id="80" name="Rounded Rectangle 79"/>
            <p:cNvSpPr/>
            <p:nvPr/>
          </p:nvSpPr>
          <p:spPr>
            <a:xfrm>
              <a:off x="683568" y="1488240"/>
              <a:ext cx="3456384" cy="497144"/>
            </a:xfrm>
            <a:prstGeom prst="roundRect">
              <a:avLst>
                <a:gd name="adj" fmla="val 50000"/>
              </a:avLst>
            </a:prstGeom>
            <a:solidFill>
              <a:srgbClr val="FFC00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900" dirty="0">
                  <a:solidFill>
                    <a:schemeClr val="tx1"/>
                  </a:solidFill>
                </a:rPr>
                <a:t>Information</a:t>
              </a:r>
              <a:r>
                <a:rPr lang="en-IN" sz="2900" dirty="0" smtClean="0">
                  <a:solidFill>
                    <a:schemeClr val="tx1"/>
                  </a:solidFill>
                </a:rPr>
                <a:t> Density</a:t>
              </a:r>
              <a:endParaRPr lang="en-IN" sz="2900" dirty="0">
                <a:solidFill>
                  <a:schemeClr val="tx1"/>
                </a:solidFill>
                <a:latin typeface="Bahnschrift" pitchFamily="34" charset="0"/>
              </a:endParaRPr>
            </a:p>
          </p:txBody>
        </p:sp>
      </p:grpSp>
      <p:grpSp>
        <p:nvGrpSpPr>
          <p:cNvPr id="81" name="Group 80"/>
          <p:cNvGrpSpPr/>
          <p:nvPr/>
        </p:nvGrpSpPr>
        <p:grpSpPr>
          <a:xfrm>
            <a:off x="767662" y="4789755"/>
            <a:ext cx="3600400" cy="662864"/>
            <a:chOff x="611560" y="1405380"/>
            <a:chExt cx="3600400" cy="662864"/>
          </a:xfrm>
        </p:grpSpPr>
        <p:sp>
          <p:nvSpPr>
            <p:cNvPr id="82" name="Rounded Rectangle 81"/>
            <p:cNvSpPr/>
            <p:nvPr/>
          </p:nvSpPr>
          <p:spPr>
            <a:xfrm>
              <a:off x="611560" y="1405380"/>
              <a:ext cx="3600400" cy="662864"/>
            </a:xfrm>
            <a:prstGeom prst="roundRect">
              <a:avLst>
                <a:gd name="adj" fmla="val 50000"/>
              </a:avLst>
            </a:prstGeom>
            <a:solidFill>
              <a:schemeClr val="bg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200" dirty="0">
                <a:solidFill>
                  <a:schemeClr val="tx1"/>
                </a:solidFill>
                <a:latin typeface="Bahnschrift" pitchFamily="34" charset="0"/>
              </a:endParaRPr>
            </a:p>
          </p:txBody>
        </p:sp>
        <p:sp>
          <p:nvSpPr>
            <p:cNvPr id="83" name="Rounded Rectangle 82"/>
            <p:cNvSpPr/>
            <p:nvPr/>
          </p:nvSpPr>
          <p:spPr>
            <a:xfrm>
              <a:off x="683568" y="1488240"/>
              <a:ext cx="3456384" cy="497144"/>
            </a:xfrm>
            <a:prstGeom prst="roundRect">
              <a:avLst>
                <a:gd name="adj" fmla="val 50000"/>
              </a:avLst>
            </a:prstGeom>
            <a:solidFill>
              <a:srgbClr val="FFC00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900" dirty="0" smtClean="0">
                  <a:solidFill>
                    <a:schemeClr val="tx1"/>
                  </a:solidFill>
                </a:rPr>
                <a:t>Social Technology</a:t>
              </a:r>
              <a:endParaRPr lang="en-IN" sz="2900" dirty="0">
                <a:solidFill>
                  <a:schemeClr val="tx1"/>
                </a:solidFill>
              </a:endParaRPr>
            </a:p>
          </p:txBody>
        </p:sp>
      </p:grpSp>
      <p:grpSp>
        <p:nvGrpSpPr>
          <p:cNvPr id="84" name="Group 83"/>
          <p:cNvGrpSpPr/>
          <p:nvPr/>
        </p:nvGrpSpPr>
        <p:grpSpPr>
          <a:xfrm>
            <a:off x="4802578" y="4789755"/>
            <a:ext cx="3600400" cy="662864"/>
            <a:chOff x="611560" y="1405380"/>
            <a:chExt cx="3600400" cy="662864"/>
          </a:xfrm>
        </p:grpSpPr>
        <p:sp>
          <p:nvSpPr>
            <p:cNvPr id="85" name="Rounded Rectangle 84"/>
            <p:cNvSpPr/>
            <p:nvPr/>
          </p:nvSpPr>
          <p:spPr>
            <a:xfrm>
              <a:off x="611560" y="1405380"/>
              <a:ext cx="3600400" cy="662864"/>
            </a:xfrm>
            <a:prstGeom prst="roundRect">
              <a:avLst>
                <a:gd name="adj" fmla="val 50000"/>
              </a:avLst>
            </a:prstGeom>
            <a:solidFill>
              <a:schemeClr val="bg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200" dirty="0">
                <a:solidFill>
                  <a:schemeClr val="tx1"/>
                </a:solidFill>
                <a:latin typeface="Bahnschrift" pitchFamily="34" charset="0"/>
              </a:endParaRPr>
            </a:p>
          </p:txBody>
        </p:sp>
        <p:sp>
          <p:nvSpPr>
            <p:cNvPr id="86" name="Rounded Rectangle 85"/>
            <p:cNvSpPr/>
            <p:nvPr/>
          </p:nvSpPr>
          <p:spPr>
            <a:xfrm>
              <a:off x="683568" y="1488240"/>
              <a:ext cx="3456384" cy="497144"/>
            </a:xfrm>
            <a:prstGeom prst="roundRect">
              <a:avLst>
                <a:gd name="adj" fmla="val 50000"/>
              </a:avLst>
            </a:prstGeom>
            <a:solidFill>
              <a:srgbClr val="FFC00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900" dirty="0">
                  <a:solidFill>
                    <a:schemeClr val="tx1"/>
                  </a:solidFill>
                </a:rPr>
                <a:t>Personalization</a:t>
              </a:r>
            </a:p>
          </p:txBody>
        </p:sp>
      </p:grpSp>
    </p:spTree>
    <p:extLst>
      <p:ext uri="{BB962C8B-B14F-4D97-AF65-F5344CB8AC3E}">
        <p14:creationId xmlns:p14="http://schemas.microsoft.com/office/powerpoint/2010/main" val="37329572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3.61111E-6 -1.96532E-6 L 1.00017 -1.96532E-6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30"/>
                                        </p:tgtEl>
                                        <p:attrNameLst>
                                          <p:attrName>style.visibility</p:attrName>
                                        </p:attrNameLst>
                                      </p:cBhvr>
                                      <p:to>
                                        <p:strVal val="visible"/>
                                      </p:to>
                                    </p:set>
                                    <p:anim calcmode="lin" valueType="num">
                                      <p:cBhvr>
                                        <p:cTn id="10"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30"/>
                                        </p:tgtEl>
                                        <p:attrNameLst>
                                          <p:attrName>ppt_y</p:attrName>
                                        </p:attrNameLst>
                                      </p:cBhvr>
                                      <p:tavLst>
                                        <p:tav tm="0">
                                          <p:val>
                                            <p:strVal val="#ppt_y"/>
                                          </p:val>
                                        </p:tav>
                                        <p:tav tm="100000">
                                          <p:val>
                                            <p:strVal val="#ppt_y"/>
                                          </p:val>
                                        </p:tav>
                                      </p:tavLst>
                                    </p:anim>
                                    <p:anim calcmode="lin" valueType="num">
                                      <p:cBhvr>
                                        <p:cTn id="12"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8"/>
                                        </p:tgtEl>
                                        <p:attrNameLst>
                                          <p:attrName>style.visibility</p:attrName>
                                        </p:attrNameLst>
                                      </p:cBhvr>
                                      <p:to>
                                        <p:strVal val="visible"/>
                                      </p:to>
                                    </p:set>
                                    <p:anim calcmode="lin" valueType="num">
                                      <p:cBhvr additive="base">
                                        <p:cTn id="19" dur="500" fill="hold"/>
                                        <p:tgtEl>
                                          <p:spTgt spid="48"/>
                                        </p:tgtEl>
                                        <p:attrNameLst>
                                          <p:attrName>ppt_x</p:attrName>
                                        </p:attrNameLst>
                                      </p:cBhvr>
                                      <p:tavLst>
                                        <p:tav tm="0">
                                          <p:val>
                                            <p:strVal val="#ppt_x"/>
                                          </p:val>
                                        </p:tav>
                                        <p:tav tm="100000">
                                          <p:val>
                                            <p:strVal val="#ppt_x"/>
                                          </p:val>
                                        </p:tav>
                                      </p:tavLst>
                                    </p:anim>
                                    <p:anim calcmode="lin" valueType="num">
                                      <p:cBhvr additive="base">
                                        <p:cTn id="20"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nodeType="click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wipe(right)">
                                      <p:cBhvr>
                                        <p:cTn id="25" dur="500"/>
                                        <p:tgtEl>
                                          <p:spTgt spid="5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66"/>
                                        </p:tgtEl>
                                        <p:attrNameLst>
                                          <p:attrName>style.visibility</p:attrName>
                                        </p:attrNameLst>
                                      </p:cBhvr>
                                      <p:to>
                                        <p:strVal val="visible"/>
                                      </p:to>
                                    </p:set>
                                    <p:animEffect transition="in" filter="wipe(left)">
                                      <p:cBhvr>
                                        <p:cTn id="30" dur="500"/>
                                        <p:tgtEl>
                                          <p:spTgt spid="6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69"/>
                                        </p:tgtEl>
                                        <p:attrNameLst>
                                          <p:attrName>style.visibility</p:attrName>
                                        </p:attrNameLst>
                                      </p:cBhvr>
                                      <p:to>
                                        <p:strVal val="visible"/>
                                      </p:to>
                                    </p:set>
                                    <p:animEffect transition="in" filter="wipe(right)">
                                      <p:cBhvr>
                                        <p:cTn id="35" dur="500"/>
                                        <p:tgtEl>
                                          <p:spTgt spid="6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72"/>
                                        </p:tgtEl>
                                        <p:attrNameLst>
                                          <p:attrName>style.visibility</p:attrName>
                                        </p:attrNameLst>
                                      </p:cBhvr>
                                      <p:to>
                                        <p:strVal val="visible"/>
                                      </p:to>
                                    </p:set>
                                    <p:animEffect transition="in" filter="wipe(left)">
                                      <p:cBhvr>
                                        <p:cTn id="40" dur="500"/>
                                        <p:tgtEl>
                                          <p:spTgt spid="7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2" fill="hold" nodeType="clickEffect">
                                  <p:stCondLst>
                                    <p:cond delay="0"/>
                                  </p:stCondLst>
                                  <p:childTnLst>
                                    <p:set>
                                      <p:cBhvr>
                                        <p:cTn id="44" dur="1" fill="hold">
                                          <p:stCondLst>
                                            <p:cond delay="0"/>
                                          </p:stCondLst>
                                        </p:cTn>
                                        <p:tgtEl>
                                          <p:spTgt spid="75"/>
                                        </p:tgtEl>
                                        <p:attrNameLst>
                                          <p:attrName>style.visibility</p:attrName>
                                        </p:attrNameLst>
                                      </p:cBhvr>
                                      <p:to>
                                        <p:strVal val="visible"/>
                                      </p:to>
                                    </p:set>
                                    <p:animEffect transition="in" filter="wipe(right)">
                                      <p:cBhvr>
                                        <p:cTn id="45" dur="500"/>
                                        <p:tgtEl>
                                          <p:spTgt spid="7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78"/>
                                        </p:tgtEl>
                                        <p:attrNameLst>
                                          <p:attrName>style.visibility</p:attrName>
                                        </p:attrNameLst>
                                      </p:cBhvr>
                                      <p:to>
                                        <p:strVal val="visible"/>
                                      </p:to>
                                    </p:set>
                                    <p:animEffect transition="in" filter="wipe(left)">
                                      <p:cBhvr>
                                        <p:cTn id="50" dur="500"/>
                                        <p:tgtEl>
                                          <p:spTgt spid="7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2" fill="hold" nodeType="clickEffect">
                                  <p:stCondLst>
                                    <p:cond delay="0"/>
                                  </p:stCondLst>
                                  <p:childTnLst>
                                    <p:set>
                                      <p:cBhvr>
                                        <p:cTn id="54" dur="1" fill="hold">
                                          <p:stCondLst>
                                            <p:cond delay="0"/>
                                          </p:stCondLst>
                                        </p:cTn>
                                        <p:tgtEl>
                                          <p:spTgt spid="81"/>
                                        </p:tgtEl>
                                        <p:attrNameLst>
                                          <p:attrName>style.visibility</p:attrName>
                                        </p:attrNameLst>
                                      </p:cBhvr>
                                      <p:to>
                                        <p:strVal val="visible"/>
                                      </p:to>
                                    </p:set>
                                    <p:animEffect transition="in" filter="wipe(right)">
                                      <p:cBhvr>
                                        <p:cTn id="55" dur="500"/>
                                        <p:tgtEl>
                                          <p:spTgt spid="81"/>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84"/>
                                        </p:tgtEl>
                                        <p:attrNameLst>
                                          <p:attrName>style.visibility</p:attrName>
                                        </p:attrNameLst>
                                      </p:cBhvr>
                                      <p:to>
                                        <p:strVal val="visible"/>
                                      </p:to>
                                    </p:set>
                                    <p:animEffect transition="in" filter="wipe(left)">
                                      <p:cBhvr>
                                        <p:cTn id="60"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574" y="0"/>
            <a:ext cx="9161187" cy="6858000"/>
            <a:chOff x="-9144000" y="0"/>
            <a:chExt cx="9161187" cy="6858000"/>
          </a:xfrm>
        </p:grpSpPr>
        <p:sp>
          <p:nvSpPr>
            <p:cNvPr id="12" name="Rectangle 11"/>
            <p:cNvSpPr/>
            <p:nvPr/>
          </p:nvSpPr>
          <p:spPr>
            <a:xfrm>
              <a:off x="-914400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3" name="Group 12"/>
            <p:cNvGrpSpPr/>
            <p:nvPr/>
          </p:nvGrpSpPr>
          <p:grpSpPr>
            <a:xfrm>
              <a:off x="-522365" y="1736812"/>
              <a:ext cx="539552" cy="3384375"/>
              <a:chOff x="-522365" y="1736812"/>
              <a:chExt cx="539552" cy="3384375"/>
            </a:xfrm>
          </p:grpSpPr>
          <p:sp>
            <p:nvSpPr>
              <p:cNvPr id="14" name="Rounded Rectangle 13"/>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Features</a:t>
                </a:r>
                <a:endParaRPr lang="en-IN" sz="2400" b="1" dirty="0">
                  <a:latin typeface="Bahnschrift Light" pitchFamily="34" charset="0"/>
                </a:endParaRPr>
              </a:p>
            </p:txBody>
          </p:sp>
        </p:grpSp>
      </p:grpSp>
      <p:grpSp>
        <p:nvGrpSpPr>
          <p:cNvPr id="11" name="Group 10"/>
          <p:cNvGrpSpPr/>
          <p:nvPr/>
        </p:nvGrpSpPr>
        <p:grpSpPr>
          <a:xfrm>
            <a:off x="-9154613" y="0"/>
            <a:ext cx="9161187" cy="6858000"/>
            <a:chOff x="-9144000" y="0"/>
            <a:chExt cx="9161187" cy="6858000"/>
          </a:xfrm>
          <a:solidFill>
            <a:schemeClr val="bg1">
              <a:lumMod val="95000"/>
            </a:schemeClr>
          </a:solidFill>
        </p:grpSpPr>
        <p:sp>
          <p:nvSpPr>
            <p:cNvPr id="4" name="Rectangle 3"/>
            <p:cNvSpPr/>
            <p:nvPr/>
          </p:nvSpPr>
          <p:spPr>
            <a:xfrm>
              <a:off x="-9144000" y="0"/>
              <a:ext cx="9144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a:grpFill/>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Components</a:t>
                </a:r>
                <a:endParaRPr lang="en-IN" sz="2400" b="1" dirty="0">
                  <a:latin typeface="Bahnschrift Light" pitchFamily="34" charset="0"/>
                </a:endParaRPr>
              </a:p>
            </p:txBody>
          </p:sp>
        </p:grpSp>
      </p:grpSp>
      <p:sp>
        <p:nvSpPr>
          <p:cNvPr id="30" name="TextBox 29"/>
          <p:cNvSpPr txBox="1"/>
          <p:nvPr/>
        </p:nvSpPr>
        <p:spPr>
          <a:xfrm>
            <a:off x="2087724" y="248116"/>
            <a:ext cx="4968552" cy="643253"/>
          </a:xfrm>
          <a:prstGeom prst="rect">
            <a:avLst/>
          </a:prstGeom>
          <a:noFill/>
        </p:spPr>
        <p:txBody>
          <a:bodyPr wrap="square" rtlCol="0">
            <a:noAutofit/>
          </a:bodyPr>
          <a:lstStyle/>
          <a:p>
            <a:pPr algn="ctr"/>
            <a:r>
              <a:rPr lang="en-US" sz="3200" dirty="0" smtClean="0">
                <a:latin typeface="Bahnschrift" pitchFamily="34" charset="0"/>
              </a:rPr>
              <a:t>Eight </a:t>
            </a:r>
            <a:r>
              <a:rPr lang="en-US" sz="3200" dirty="0">
                <a:latin typeface="Bahnschrift" pitchFamily="34" charset="0"/>
              </a:rPr>
              <a:t>Unique C</a:t>
            </a:r>
            <a:r>
              <a:rPr lang="en-US" sz="3200" dirty="0" smtClean="0">
                <a:latin typeface="Bahnschrift" pitchFamily="34" charset="0"/>
              </a:rPr>
              <a:t>omponents of </a:t>
            </a:r>
            <a:r>
              <a:rPr lang="en-US" sz="3200" dirty="0">
                <a:latin typeface="Bahnschrift" pitchFamily="34" charset="0"/>
              </a:rPr>
              <a:t>E-commerce</a:t>
            </a:r>
          </a:p>
        </p:txBody>
      </p:sp>
      <p:sp>
        <p:nvSpPr>
          <p:cNvPr id="49" name="TextBox 48"/>
          <p:cNvSpPr txBox="1"/>
          <p:nvPr/>
        </p:nvSpPr>
        <p:spPr>
          <a:xfrm>
            <a:off x="507921" y="1340768"/>
            <a:ext cx="7992888" cy="1231106"/>
          </a:xfrm>
          <a:prstGeom prst="rect">
            <a:avLst/>
          </a:prstGeom>
          <a:noFill/>
        </p:spPr>
        <p:txBody>
          <a:bodyPr wrap="square" rtlCol="0">
            <a:spAutoFit/>
          </a:bodyPr>
          <a:lstStyle/>
          <a:p>
            <a:r>
              <a:rPr lang="en-US" sz="2000" b="1" dirty="0" smtClean="0">
                <a:latin typeface="Bahnschrift" pitchFamily="34" charset="0"/>
              </a:rPr>
              <a:t>Ubiquity</a:t>
            </a:r>
            <a:r>
              <a:rPr lang="en-US" dirty="0" smtClean="0">
                <a:latin typeface="Bahnschrift" pitchFamily="34" charset="0"/>
              </a:rPr>
              <a:t> is defined as being something that occurs everywhere. Ever since the inception of the internet, its user base has grown exponentially, and with it, E-commerce has blossomed. Libraries, homes, businesses, people’s personal cell phones and even airplanes, all have access to the internet.</a:t>
            </a:r>
          </a:p>
        </p:txBody>
      </p:sp>
      <p:sp>
        <p:nvSpPr>
          <p:cNvPr id="50" name="TextBox 49"/>
          <p:cNvSpPr txBox="1"/>
          <p:nvPr/>
        </p:nvSpPr>
        <p:spPr>
          <a:xfrm>
            <a:off x="507921" y="2640590"/>
            <a:ext cx="7992888" cy="2062103"/>
          </a:xfrm>
          <a:prstGeom prst="rect">
            <a:avLst/>
          </a:prstGeom>
          <a:noFill/>
        </p:spPr>
        <p:txBody>
          <a:bodyPr wrap="square" rtlCol="0">
            <a:spAutoFit/>
          </a:bodyPr>
          <a:lstStyle>
            <a:defPPr>
              <a:defRPr lang="en-US"/>
            </a:defPPr>
            <a:lvl1pPr>
              <a:defRPr>
                <a:latin typeface="Bahnschrift" pitchFamily="34" charset="0"/>
              </a:defRPr>
            </a:lvl1pPr>
          </a:lstStyle>
          <a:p>
            <a:r>
              <a:rPr lang="en-US" sz="2000" b="1" dirty="0"/>
              <a:t>Global Reach</a:t>
            </a:r>
            <a:r>
              <a:rPr lang="en-US" dirty="0" smtClean="0"/>
              <a:t> refers to the previously smaller, more contained marketplace (where we traditionally did business before the internet – brick and mortar stores) turning outward and morphing into a “market space”. This new market space is online, and encompasses every single type of business you can imagine, from Amazon which sells a little bit of everything, to much more focused businesses such as Lighting manufacturers. </a:t>
            </a:r>
            <a:endParaRPr lang="en-US" dirty="0"/>
          </a:p>
        </p:txBody>
      </p:sp>
      <p:sp>
        <p:nvSpPr>
          <p:cNvPr id="51" name="TextBox 50"/>
          <p:cNvSpPr txBox="1"/>
          <p:nvPr/>
        </p:nvSpPr>
        <p:spPr>
          <a:xfrm>
            <a:off x="507921" y="4771409"/>
            <a:ext cx="7992888" cy="677108"/>
          </a:xfrm>
          <a:prstGeom prst="rect">
            <a:avLst/>
          </a:prstGeom>
          <a:noFill/>
        </p:spPr>
        <p:txBody>
          <a:bodyPr wrap="square" rtlCol="0">
            <a:spAutoFit/>
          </a:bodyPr>
          <a:lstStyle>
            <a:defPPr>
              <a:defRPr lang="en-US"/>
            </a:defPPr>
            <a:lvl1pPr>
              <a:defRPr>
                <a:latin typeface="Bahnschrift" pitchFamily="34" charset="0"/>
              </a:defRPr>
            </a:lvl1pPr>
          </a:lstStyle>
          <a:p>
            <a:r>
              <a:rPr lang="en-US" sz="2000" b="1" dirty="0"/>
              <a:t>Universal Standards, </a:t>
            </a:r>
            <a:r>
              <a:rPr lang="en-US" dirty="0"/>
              <a:t>which is fairly easy to understand. The internet has its own universally accepted standards of how information is presented. </a:t>
            </a:r>
          </a:p>
        </p:txBody>
      </p:sp>
      <p:sp>
        <p:nvSpPr>
          <p:cNvPr id="52" name="TextBox 51"/>
          <p:cNvSpPr txBox="1"/>
          <p:nvPr/>
        </p:nvSpPr>
        <p:spPr>
          <a:xfrm>
            <a:off x="507921" y="5517232"/>
            <a:ext cx="7992888" cy="677108"/>
          </a:xfrm>
          <a:prstGeom prst="rect">
            <a:avLst/>
          </a:prstGeom>
          <a:noFill/>
        </p:spPr>
        <p:txBody>
          <a:bodyPr wrap="square" rtlCol="0">
            <a:spAutoFit/>
          </a:bodyPr>
          <a:lstStyle>
            <a:defPPr>
              <a:defRPr lang="en-US"/>
            </a:defPPr>
            <a:lvl1pPr>
              <a:defRPr>
                <a:latin typeface="Bahnschrift" pitchFamily="34" charset="0"/>
              </a:defRPr>
            </a:lvl1pPr>
          </a:lstStyle>
          <a:p>
            <a:r>
              <a:rPr lang="en-US" sz="2000" b="1" dirty="0"/>
              <a:t>Richness</a:t>
            </a:r>
            <a:r>
              <a:rPr lang="en-US" sz="2000" b="1" dirty="0" smtClean="0"/>
              <a:t> </a:t>
            </a:r>
            <a:r>
              <a:rPr lang="en-US" dirty="0" smtClean="0"/>
              <a:t>is </a:t>
            </a:r>
            <a:r>
              <a:rPr lang="en-US" dirty="0"/>
              <a:t>simply refers to the fact that there are now video ads, audio messages, and even interactive text options, on many retail sites</a:t>
            </a:r>
            <a:r>
              <a:rPr lang="en-US" dirty="0" smtClean="0"/>
              <a:t>.</a:t>
            </a:r>
            <a:endParaRPr lang="en-US" dirty="0"/>
          </a:p>
        </p:txBody>
      </p:sp>
    </p:spTree>
    <p:extLst>
      <p:ext uri="{BB962C8B-B14F-4D97-AF65-F5344CB8AC3E}">
        <p14:creationId xmlns:p14="http://schemas.microsoft.com/office/powerpoint/2010/main" val="10764568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3.61111E-6 -1.96532E-6 L 1.00017 -1.96532E-6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30"/>
                                        </p:tgtEl>
                                        <p:attrNameLst>
                                          <p:attrName>style.visibility</p:attrName>
                                        </p:attrNameLst>
                                      </p:cBhvr>
                                      <p:to>
                                        <p:strVal val="visible"/>
                                      </p:to>
                                    </p:set>
                                    <p:anim calcmode="lin" valueType="num">
                                      <p:cBhvr>
                                        <p:cTn id="10"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30"/>
                                        </p:tgtEl>
                                        <p:attrNameLst>
                                          <p:attrName>ppt_y</p:attrName>
                                        </p:attrNameLst>
                                      </p:cBhvr>
                                      <p:tavLst>
                                        <p:tav tm="0">
                                          <p:val>
                                            <p:strVal val="#ppt_y"/>
                                          </p:val>
                                        </p:tav>
                                        <p:tav tm="100000">
                                          <p:val>
                                            <p:strVal val="#ppt_y"/>
                                          </p:val>
                                        </p:tav>
                                      </p:tavLst>
                                    </p:anim>
                                    <p:anim calcmode="lin" valueType="num">
                                      <p:cBhvr>
                                        <p:cTn id="12"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anim calcmode="lin" valueType="num">
                                      <p:cBhvr>
                                        <p:cTn id="19" dur="500" fill="hold"/>
                                        <p:tgtEl>
                                          <p:spTgt spid="49"/>
                                        </p:tgtEl>
                                        <p:attrNameLst>
                                          <p:attrName>ppt_w</p:attrName>
                                        </p:attrNameLst>
                                      </p:cBhvr>
                                      <p:tavLst>
                                        <p:tav tm="0">
                                          <p:val>
                                            <p:fltVal val="0"/>
                                          </p:val>
                                        </p:tav>
                                        <p:tav tm="100000">
                                          <p:val>
                                            <p:strVal val="#ppt_w"/>
                                          </p:val>
                                        </p:tav>
                                      </p:tavLst>
                                    </p:anim>
                                    <p:anim calcmode="lin" valueType="num">
                                      <p:cBhvr>
                                        <p:cTn id="20" dur="500" fill="hold"/>
                                        <p:tgtEl>
                                          <p:spTgt spid="49"/>
                                        </p:tgtEl>
                                        <p:attrNameLst>
                                          <p:attrName>ppt_h</p:attrName>
                                        </p:attrNameLst>
                                      </p:cBhvr>
                                      <p:tavLst>
                                        <p:tav tm="0">
                                          <p:val>
                                            <p:fltVal val="0"/>
                                          </p:val>
                                        </p:tav>
                                        <p:tav tm="100000">
                                          <p:val>
                                            <p:strVal val="#ppt_h"/>
                                          </p:val>
                                        </p:tav>
                                      </p:tavLst>
                                    </p:anim>
                                    <p:animEffect transition="in" filter="fade">
                                      <p:cBhvr>
                                        <p:cTn id="21" dur="500"/>
                                        <p:tgtEl>
                                          <p:spTgt spid="49"/>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50"/>
                                        </p:tgtEl>
                                        <p:attrNameLst>
                                          <p:attrName>style.visibility</p:attrName>
                                        </p:attrNameLst>
                                      </p:cBhvr>
                                      <p:to>
                                        <p:strVal val="visible"/>
                                      </p:to>
                                    </p:set>
                                    <p:anim calcmode="lin" valueType="num">
                                      <p:cBhvr>
                                        <p:cTn id="26" dur="500" fill="hold"/>
                                        <p:tgtEl>
                                          <p:spTgt spid="50"/>
                                        </p:tgtEl>
                                        <p:attrNameLst>
                                          <p:attrName>ppt_w</p:attrName>
                                        </p:attrNameLst>
                                      </p:cBhvr>
                                      <p:tavLst>
                                        <p:tav tm="0">
                                          <p:val>
                                            <p:fltVal val="0"/>
                                          </p:val>
                                        </p:tav>
                                        <p:tav tm="100000">
                                          <p:val>
                                            <p:strVal val="#ppt_w"/>
                                          </p:val>
                                        </p:tav>
                                      </p:tavLst>
                                    </p:anim>
                                    <p:anim calcmode="lin" valueType="num">
                                      <p:cBhvr>
                                        <p:cTn id="27" dur="500" fill="hold"/>
                                        <p:tgtEl>
                                          <p:spTgt spid="50"/>
                                        </p:tgtEl>
                                        <p:attrNameLst>
                                          <p:attrName>ppt_h</p:attrName>
                                        </p:attrNameLst>
                                      </p:cBhvr>
                                      <p:tavLst>
                                        <p:tav tm="0">
                                          <p:val>
                                            <p:fltVal val="0"/>
                                          </p:val>
                                        </p:tav>
                                        <p:tav tm="100000">
                                          <p:val>
                                            <p:strVal val="#ppt_h"/>
                                          </p:val>
                                        </p:tav>
                                      </p:tavLst>
                                    </p:anim>
                                    <p:animEffect transition="in" filter="fade">
                                      <p:cBhvr>
                                        <p:cTn id="28" dur="500"/>
                                        <p:tgtEl>
                                          <p:spTgt spid="50"/>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51"/>
                                        </p:tgtEl>
                                        <p:attrNameLst>
                                          <p:attrName>style.visibility</p:attrName>
                                        </p:attrNameLst>
                                      </p:cBhvr>
                                      <p:to>
                                        <p:strVal val="visible"/>
                                      </p:to>
                                    </p:set>
                                    <p:anim calcmode="lin" valueType="num">
                                      <p:cBhvr>
                                        <p:cTn id="33" dur="500" fill="hold"/>
                                        <p:tgtEl>
                                          <p:spTgt spid="51"/>
                                        </p:tgtEl>
                                        <p:attrNameLst>
                                          <p:attrName>ppt_w</p:attrName>
                                        </p:attrNameLst>
                                      </p:cBhvr>
                                      <p:tavLst>
                                        <p:tav tm="0">
                                          <p:val>
                                            <p:fltVal val="0"/>
                                          </p:val>
                                        </p:tav>
                                        <p:tav tm="100000">
                                          <p:val>
                                            <p:strVal val="#ppt_w"/>
                                          </p:val>
                                        </p:tav>
                                      </p:tavLst>
                                    </p:anim>
                                    <p:anim calcmode="lin" valueType="num">
                                      <p:cBhvr>
                                        <p:cTn id="34" dur="500" fill="hold"/>
                                        <p:tgtEl>
                                          <p:spTgt spid="51"/>
                                        </p:tgtEl>
                                        <p:attrNameLst>
                                          <p:attrName>ppt_h</p:attrName>
                                        </p:attrNameLst>
                                      </p:cBhvr>
                                      <p:tavLst>
                                        <p:tav tm="0">
                                          <p:val>
                                            <p:fltVal val="0"/>
                                          </p:val>
                                        </p:tav>
                                        <p:tav tm="100000">
                                          <p:val>
                                            <p:strVal val="#ppt_h"/>
                                          </p:val>
                                        </p:tav>
                                      </p:tavLst>
                                    </p:anim>
                                    <p:animEffect transition="in" filter="fade">
                                      <p:cBhvr>
                                        <p:cTn id="35" dur="500"/>
                                        <p:tgtEl>
                                          <p:spTgt spid="51"/>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52"/>
                                        </p:tgtEl>
                                        <p:attrNameLst>
                                          <p:attrName>style.visibility</p:attrName>
                                        </p:attrNameLst>
                                      </p:cBhvr>
                                      <p:to>
                                        <p:strVal val="visible"/>
                                      </p:to>
                                    </p:set>
                                    <p:anim calcmode="lin" valueType="num">
                                      <p:cBhvr>
                                        <p:cTn id="40" dur="500" fill="hold"/>
                                        <p:tgtEl>
                                          <p:spTgt spid="52"/>
                                        </p:tgtEl>
                                        <p:attrNameLst>
                                          <p:attrName>ppt_w</p:attrName>
                                        </p:attrNameLst>
                                      </p:cBhvr>
                                      <p:tavLst>
                                        <p:tav tm="0">
                                          <p:val>
                                            <p:fltVal val="0"/>
                                          </p:val>
                                        </p:tav>
                                        <p:tav tm="100000">
                                          <p:val>
                                            <p:strVal val="#ppt_w"/>
                                          </p:val>
                                        </p:tav>
                                      </p:tavLst>
                                    </p:anim>
                                    <p:anim calcmode="lin" valueType="num">
                                      <p:cBhvr>
                                        <p:cTn id="41" dur="500" fill="hold"/>
                                        <p:tgtEl>
                                          <p:spTgt spid="52"/>
                                        </p:tgtEl>
                                        <p:attrNameLst>
                                          <p:attrName>ppt_h</p:attrName>
                                        </p:attrNameLst>
                                      </p:cBhvr>
                                      <p:tavLst>
                                        <p:tav tm="0">
                                          <p:val>
                                            <p:fltVal val="0"/>
                                          </p:val>
                                        </p:tav>
                                        <p:tav tm="100000">
                                          <p:val>
                                            <p:strVal val="#ppt_h"/>
                                          </p:val>
                                        </p:tav>
                                      </p:tavLst>
                                    </p:anim>
                                    <p:animEffect transition="in" filter="fade">
                                      <p:cBhvr>
                                        <p:cTn id="4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49" grpId="0"/>
      <p:bldP spid="50" grpId="0"/>
      <p:bldP spid="51" grpId="0"/>
      <p:bldP spid="5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574" y="0"/>
            <a:ext cx="9161187" cy="6858000"/>
            <a:chOff x="-9144000" y="0"/>
            <a:chExt cx="9161187" cy="6858000"/>
          </a:xfrm>
        </p:grpSpPr>
        <p:sp>
          <p:nvSpPr>
            <p:cNvPr id="12" name="Rectangle 11"/>
            <p:cNvSpPr/>
            <p:nvPr/>
          </p:nvSpPr>
          <p:spPr>
            <a:xfrm>
              <a:off x="-914400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3" name="Group 12"/>
            <p:cNvGrpSpPr/>
            <p:nvPr/>
          </p:nvGrpSpPr>
          <p:grpSpPr>
            <a:xfrm>
              <a:off x="-522365" y="1772817"/>
              <a:ext cx="539552" cy="3384375"/>
              <a:chOff x="-522365" y="1772817"/>
              <a:chExt cx="539552" cy="3384375"/>
            </a:xfrm>
          </p:grpSpPr>
          <p:sp>
            <p:nvSpPr>
              <p:cNvPr id="14" name="Rounded Rectangle 13"/>
              <p:cNvSpPr/>
              <p:nvPr/>
            </p:nvSpPr>
            <p:spPr>
              <a:xfrm>
                <a:off x="-522365" y="1772817"/>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Components</a:t>
                </a:r>
                <a:endParaRPr lang="en-IN" sz="2400" b="1" dirty="0">
                  <a:latin typeface="Bahnschrift Light" pitchFamily="34" charset="0"/>
                </a:endParaRPr>
              </a:p>
            </p:txBody>
          </p:sp>
        </p:grpSp>
      </p:grpSp>
      <p:grpSp>
        <p:nvGrpSpPr>
          <p:cNvPr id="11" name="Group 10"/>
          <p:cNvGrpSpPr/>
          <p:nvPr/>
        </p:nvGrpSpPr>
        <p:grpSpPr>
          <a:xfrm>
            <a:off x="-9154613" y="0"/>
            <a:ext cx="9161187" cy="6858000"/>
            <a:chOff x="-9144000" y="0"/>
            <a:chExt cx="9161187" cy="6858000"/>
          </a:xfrm>
          <a:solidFill>
            <a:schemeClr val="bg1">
              <a:lumMod val="95000"/>
            </a:schemeClr>
          </a:solidFill>
        </p:grpSpPr>
        <p:sp>
          <p:nvSpPr>
            <p:cNvPr id="4" name="Rectangle 3"/>
            <p:cNvSpPr/>
            <p:nvPr/>
          </p:nvSpPr>
          <p:spPr>
            <a:xfrm>
              <a:off x="-9144000" y="0"/>
              <a:ext cx="9144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a:grpFill/>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Components Cont</a:t>
                </a:r>
                <a:r>
                  <a:rPr lang="en-IN" sz="2400" b="1" dirty="0">
                    <a:latin typeface="Bahnschrift Light" pitchFamily="34" charset="0"/>
                  </a:rPr>
                  <a:t>.</a:t>
                </a:r>
              </a:p>
            </p:txBody>
          </p:sp>
        </p:grpSp>
      </p:grpSp>
      <p:sp>
        <p:nvSpPr>
          <p:cNvPr id="30" name="TextBox 29"/>
          <p:cNvSpPr txBox="1"/>
          <p:nvPr/>
        </p:nvSpPr>
        <p:spPr>
          <a:xfrm>
            <a:off x="2087724" y="248116"/>
            <a:ext cx="4968552" cy="1092652"/>
          </a:xfrm>
          <a:prstGeom prst="rect">
            <a:avLst/>
          </a:prstGeom>
          <a:noFill/>
        </p:spPr>
        <p:txBody>
          <a:bodyPr wrap="square" rtlCol="0">
            <a:noAutofit/>
          </a:bodyPr>
          <a:lstStyle/>
          <a:p>
            <a:pPr algn="ctr"/>
            <a:r>
              <a:rPr lang="en-US" sz="3200" dirty="0" smtClean="0">
                <a:latin typeface="Bahnschrift" pitchFamily="34" charset="0"/>
              </a:rPr>
              <a:t>Continue Components of</a:t>
            </a:r>
          </a:p>
          <a:p>
            <a:pPr algn="ctr"/>
            <a:r>
              <a:rPr lang="en-US" sz="3200" dirty="0" smtClean="0">
                <a:latin typeface="Bahnschrift" pitchFamily="34" charset="0"/>
              </a:rPr>
              <a:t> E-commerce</a:t>
            </a:r>
          </a:p>
          <a:p>
            <a:pPr algn="ctr"/>
            <a:endParaRPr lang="en-US" sz="3200" dirty="0">
              <a:latin typeface="Bahnschrift" pitchFamily="34" charset="0"/>
            </a:endParaRPr>
          </a:p>
        </p:txBody>
      </p:sp>
      <p:sp>
        <p:nvSpPr>
          <p:cNvPr id="19" name="TextBox 18"/>
          <p:cNvSpPr txBox="1"/>
          <p:nvPr/>
        </p:nvSpPr>
        <p:spPr>
          <a:xfrm>
            <a:off x="545025" y="1340768"/>
            <a:ext cx="7992888" cy="954107"/>
          </a:xfrm>
          <a:prstGeom prst="rect">
            <a:avLst/>
          </a:prstGeom>
          <a:noFill/>
        </p:spPr>
        <p:txBody>
          <a:bodyPr wrap="square" rtlCol="0">
            <a:spAutoFit/>
          </a:bodyPr>
          <a:lstStyle/>
          <a:p>
            <a:r>
              <a:rPr lang="en-US" sz="2000" b="1" dirty="0">
                <a:latin typeface="Bahnschrift" pitchFamily="34" charset="0"/>
              </a:rPr>
              <a:t>Information Denseness </a:t>
            </a:r>
            <a:r>
              <a:rPr lang="en-US" dirty="0" smtClean="0">
                <a:latin typeface="Bahnschrift" pitchFamily="34" charset="0"/>
              </a:rPr>
              <a:t>is accessing your competitor’s, manufacturer’s, and delivery service’s information, which allows you to save on information processing, storage and communication costs. </a:t>
            </a:r>
            <a:endParaRPr lang="en-IN" dirty="0">
              <a:latin typeface="Bahnschrift" pitchFamily="34" charset="0"/>
            </a:endParaRPr>
          </a:p>
        </p:txBody>
      </p:sp>
      <p:sp>
        <p:nvSpPr>
          <p:cNvPr id="20" name="TextBox 19"/>
          <p:cNvSpPr txBox="1"/>
          <p:nvPr/>
        </p:nvSpPr>
        <p:spPr>
          <a:xfrm>
            <a:off x="545025" y="2521527"/>
            <a:ext cx="7992888" cy="954107"/>
          </a:xfrm>
          <a:prstGeom prst="rect">
            <a:avLst/>
          </a:prstGeom>
          <a:noFill/>
        </p:spPr>
        <p:txBody>
          <a:bodyPr wrap="square" rtlCol="0">
            <a:spAutoFit/>
          </a:bodyPr>
          <a:lstStyle>
            <a:defPPr>
              <a:defRPr lang="en-US"/>
            </a:defPPr>
            <a:lvl1pPr>
              <a:defRPr>
                <a:latin typeface="Bahnschrift" pitchFamily="34" charset="0"/>
              </a:defRPr>
            </a:lvl1pPr>
          </a:lstStyle>
          <a:p>
            <a:r>
              <a:rPr lang="en-US" sz="2000" b="1" dirty="0"/>
              <a:t>Personalization, </a:t>
            </a:r>
            <a:r>
              <a:rPr lang="en-US" dirty="0" smtClean="0"/>
              <a:t>this implies that not only will you receive your products in a timely manner, but that they will be exactly what you want. There is a growing trend now of customization in many different businesses. </a:t>
            </a:r>
            <a:endParaRPr lang="en-US" dirty="0"/>
          </a:p>
        </p:txBody>
      </p:sp>
      <p:sp>
        <p:nvSpPr>
          <p:cNvPr id="21" name="TextBox 20"/>
          <p:cNvSpPr txBox="1"/>
          <p:nvPr/>
        </p:nvSpPr>
        <p:spPr>
          <a:xfrm>
            <a:off x="545025" y="3702286"/>
            <a:ext cx="7992888" cy="1231106"/>
          </a:xfrm>
          <a:prstGeom prst="rect">
            <a:avLst/>
          </a:prstGeom>
          <a:noFill/>
        </p:spPr>
        <p:txBody>
          <a:bodyPr wrap="square" rtlCol="0">
            <a:spAutoFit/>
          </a:bodyPr>
          <a:lstStyle>
            <a:defPPr>
              <a:defRPr lang="en-US"/>
            </a:defPPr>
            <a:lvl1pPr>
              <a:defRPr>
                <a:latin typeface="Bahnschrift" pitchFamily="34" charset="0"/>
              </a:defRPr>
            </a:lvl1pPr>
          </a:lstStyle>
          <a:p>
            <a:r>
              <a:rPr lang="en-US" sz="2000" b="1" dirty="0"/>
              <a:t>Social technology </a:t>
            </a:r>
            <a:r>
              <a:rPr lang="en-US" dirty="0" smtClean="0"/>
              <a:t>has changed E-Commerce in many ways. It has allowed people all over the world to start networking and share their interests, which in turn has allowed companies to more selectively target their customer bases.</a:t>
            </a:r>
            <a:endParaRPr lang="en-US" dirty="0"/>
          </a:p>
        </p:txBody>
      </p:sp>
      <p:sp>
        <p:nvSpPr>
          <p:cNvPr id="23" name="TextBox 22"/>
          <p:cNvSpPr txBox="1"/>
          <p:nvPr/>
        </p:nvSpPr>
        <p:spPr>
          <a:xfrm>
            <a:off x="545025" y="5160044"/>
            <a:ext cx="7992888" cy="1231106"/>
          </a:xfrm>
          <a:prstGeom prst="rect">
            <a:avLst/>
          </a:prstGeom>
          <a:noFill/>
        </p:spPr>
        <p:txBody>
          <a:bodyPr wrap="square" rtlCol="0">
            <a:spAutoFit/>
          </a:bodyPr>
          <a:lstStyle>
            <a:defPPr>
              <a:defRPr lang="en-US"/>
            </a:defPPr>
            <a:lvl1pPr>
              <a:defRPr>
                <a:latin typeface="Bahnschrift" pitchFamily="34" charset="0"/>
              </a:defRPr>
            </a:lvl1pPr>
          </a:lstStyle>
          <a:p>
            <a:r>
              <a:rPr lang="en-US" sz="2000" b="1" dirty="0"/>
              <a:t>Interactivity</a:t>
            </a:r>
            <a:r>
              <a:rPr lang="en-US" dirty="0" smtClean="0"/>
              <a:t> is something I really like, because it makes me feel like I’m a valued customer. There is nothing more frustrating than going into a store to find something you need, and not getting the assistance you feel you deserve. </a:t>
            </a:r>
            <a:endParaRPr lang="en-US" dirty="0"/>
          </a:p>
        </p:txBody>
      </p:sp>
    </p:spTree>
    <p:extLst>
      <p:ext uri="{BB962C8B-B14F-4D97-AF65-F5344CB8AC3E}">
        <p14:creationId xmlns:p14="http://schemas.microsoft.com/office/powerpoint/2010/main" val="956842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3.61111E-6 -1.96532E-6 L 1.00017 -1.96532E-6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30"/>
                                        </p:tgtEl>
                                        <p:attrNameLst>
                                          <p:attrName>style.visibility</p:attrName>
                                        </p:attrNameLst>
                                      </p:cBhvr>
                                      <p:to>
                                        <p:strVal val="visible"/>
                                      </p:to>
                                    </p:set>
                                    <p:anim calcmode="lin" valueType="num">
                                      <p:cBhvr>
                                        <p:cTn id="10"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30"/>
                                        </p:tgtEl>
                                        <p:attrNameLst>
                                          <p:attrName>ppt_y</p:attrName>
                                        </p:attrNameLst>
                                      </p:cBhvr>
                                      <p:tavLst>
                                        <p:tav tm="0">
                                          <p:val>
                                            <p:strVal val="#ppt_y"/>
                                          </p:val>
                                        </p:tav>
                                        <p:tav tm="100000">
                                          <p:val>
                                            <p:strVal val="#ppt_y"/>
                                          </p:val>
                                        </p:tav>
                                      </p:tavLst>
                                    </p:anim>
                                    <p:anim calcmode="lin" valueType="num">
                                      <p:cBhvr>
                                        <p:cTn id="12"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animEffect transition="in" filter="fade">
                                      <p:cBhvr>
                                        <p:cTn id="21" dur="5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 calcmode="lin" valueType="num">
                                      <p:cBhvr>
                                        <p:cTn id="26" dur="500" fill="hold"/>
                                        <p:tgtEl>
                                          <p:spTgt spid="20"/>
                                        </p:tgtEl>
                                        <p:attrNameLst>
                                          <p:attrName>ppt_w</p:attrName>
                                        </p:attrNameLst>
                                      </p:cBhvr>
                                      <p:tavLst>
                                        <p:tav tm="0">
                                          <p:val>
                                            <p:fltVal val="0"/>
                                          </p:val>
                                        </p:tav>
                                        <p:tav tm="100000">
                                          <p:val>
                                            <p:strVal val="#ppt_w"/>
                                          </p:val>
                                        </p:tav>
                                      </p:tavLst>
                                    </p:anim>
                                    <p:anim calcmode="lin" valueType="num">
                                      <p:cBhvr>
                                        <p:cTn id="27" dur="500" fill="hold"/>
                                        <p:tgtEl>
                                          <p:spTgt spid="20"/>
                                        </p:tgtEl>
                                        <p:attrNameLst>
                                          <p:attrName>ppt_h</p:attrName>
                                        </p:attrNameLst>
                                      </p:cBhvr>
                                      <p:tavLst>
                                        <p:tav tm="0">
                                          <p:val>
                                            <p:fltVal val="0"/>
                                          </p:val>
                                        </p:tav>
                                        <p:tav tm="100000">
                                          <p:val>
                                            <p:strVal val="#ppt_h"/>
                                          </p:val>
                                        </p:tav>
                                      </p:tavLst>
                                    </p:anim>
                                    <p:animEffect transition="in" filter="fade">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p:cTn id="33" dur="500" fill="hold"/>
                                        <p:tgtEl>
                                          <p:spTgt spid="21"/>
                                        </p:tgtEl>
                                        <p:attrNameLst>
                                          <p:attrName>ppt_w</p:attrName>
                                        </p:attrNameLst>
                                      </p:cBhvr>
                                      <p:tavLst>
                                        <p:tav tm="0">
                                          <p:val>
                                            <p:fltVal val="0"/>
                                          </p:val>
                                        </p:tav>
                                        <p:tav tm="100000">
                                          <p:val>
                                            <p:strVal val="#ppt_w"/>
                                          </p:val>
                                        </p:tav>
                                      </p:tavLst>
                                    </p:anim>
                                    <p:anim calcmode="lin" valueType="num">
                                      <p:cBhvr>
                                        <p:cTn id="34" dur="500" fill="hold"/>
                                        <p:tgtEl>
                                          <p:spTgt spid="21"/>
                                        </p:tgtEl>
                                        <p:attrNameLst>
                                          <p:attrName>ppt_h</p:attrName>
                                        </p:attrNameLst>
                                      </p:cBhvr>
                                      <p:tavLst>
                                        <p:tav tm="0">
                                          <p:val>
                                            <p:fltVal val="0"/>
                                          </p:val>
                                        </p:tav>
                                        <p:tav tm="100000">
                                          <p:val>
                                            <p:strVal val="#ppt_h"/>
                                          </p:val>
                                        </p:tav>
                                      </p:tavLst>
                                    </p:anim>
                                    <p:animEffect transition="in" filter="fade">
                                      <p:cBhvr>
                                        <p:cTn id="35" dur="50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 calcmode="lin" valueType="num">
                                      <p:cBhvr>
                                        <p:cTn id="40" dur="500" fill="hold"/>
                                        <p:tgtEl>
                                          <p:spTgt spid="23"/>
                                        </p:tgtEl>
                                        <p:attrNameLst>
                                          <p:attrName>ppt_w</p:attrName>
                                        </p:attrNameLst>
                                      </p:cBhvr>
                                      <p:tavLst>
                                        <p:tav tm="0">
                                          <p:val>
                                            <p:fltVal val="0"/>
                                          </p:val>
                                        </p:tav>
                                        <p:tav tm="100000">
                                          <p:val>
                                            <p:strVal val="#ppt_w"/>
                                          </p:val>
                                        </p:tav>
                                      </p:tavLst>
                                    </p:anim>
                                    <p:anim calcmode="lin" valueType="num">
                                      <p:cBhvr>
                                        <p:cTn id="41" dur="500" fill="hold"/>
                                        <p:tgtEl>
                                          <p:spTgt spid="23"/>
                                        </p:tgtEl>
                                        <p:attrNameLst>
                                          <p:attrName>ppt_h</p:attrName>
                                        </p:attrNameLst>
                                      </p:cBhvr>
                                      <p:tavLst>
                                        <p:tav tm="0">
                                          <p:val>
                                            <p:fltVal val="0"/>
                                          </p:val>
                                        </p:tav>
                                        <p:tav tm="100000">
                                          <p:val>
                                            <p:strVal val="#ppt_h"/>
                                          </p:val>
                                        </p:tav>
                                      </p:tavLst>
                                    </p:anim>
                                    <p:animEffect transition="in" filter="fade">
                                      <p:cBhvr>
                                        <p:cTn id="4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19" grpId="0"/>
      <p:bldP spid="20" grpId="0"/>
      <p:bldP spid="21" grpId="0"/>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574" y="0"/>
            <a:ext cx="9161187" cy="6858000"/>
            <a:chOff x="-9144000" y="0"/>
            <a:chExt cx="9161187" cy="6858000"/>
          </a:xfrm>
        </p:grpSpPr>
        <p:sp>
          <p:nvSpPr>
            <p:cNvPr id="12" name="Rectangle 11"/>
            <p:cNvSpPr/>
            <p:nvPr/>
          </p:nvSpPr>
          <p:spPr>
            <a:xfrm>
              <a:off x="-914400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3" name="Group 12"/>
            <p:cNvGrpSpPr/>
            <p:nvPr/>
          </p:nvGrpSpPr>
          <p:grpSpPr>
            <a:xfrm>
              <a:off x="-522365" y="1736812"/>
              <a:ext cx="539552" cy="3384375"/>
              <a:chOff x="-522365" y="1736812"/>
              <a:chExt cx="539552" cy="3384375"/>
            </a:xfrm>
          </p:grpSpPr>
          <p:sp>
            <p:nvSpPr>
              <p:cNvPr id="14" name="Rounded Rectangle 13"/>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Components Cont.</a:t>
                </a:r>
                <a:endParaRPr lang="en-IN" sz="2400" b="1" dirty="0">
                  <a:latin typeface="Bahnschrift Light" pitchFamily="34" charset="0"/>
                </a:endParaRPr>
              </a:p>
            </p:txBody>
          </p:sp>
        </p:grpSp>
      </p:grpSp>
      <p:grpSp>
        <p:nvGrpSpPr>
          <p:cNvPr id="11" name="Group 10"/>
          <p:cNvGrpSpPr/>
          <p:nvPr/>
        </p:nvGrpSpPr>
        <p:grpSpPr>
          <a:xfrm>
            <a:off x="-9154613" y="0"/>
            <a:ext cx="9161187" cy="6858000"/>
            <a:chOff x="-9144000" y="0"/>
            <a:chExt cx="9161187" cy="6858000"/>
          </a:xfrm>
          <a:solidFill>
            <a:schemeClr val="bg1">
              <a:lumMod val="95000"/>
            </a:schemeClr>
          </a:solidFill>
        </p:grpSpPr>
        <p:sp>
          <p:nvSpPr>
            <p:cNvPr id="4" name="Rectangle 3"/>
            <p:cNvSpPr/>
            <p:nvPr/>
          </p:nvSpPr>
          <p:spPr>
            <a:xfrm>
              <a:off x="-9144000" y="0"/>
              <a:ext cx="9144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a:grpFill/>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Types</a:t>
                </a:r>
                <a:endParaRPr lang="en-IN" sz="2400" b="1" dirty="0">
                  <a:latin typeface="Bahnschrift Light" pitchFamily="34" charset="0"/>
                </a:endParaRPr>
              </a:p>
            </p:txBody>
          </p:sp>
        </p:grpSp>
      </p:grpSp>
      <p:sp>
        <p:nvSpPr>
          <p:cNvPr id="30" name="TextBox 29"/>
          <p:cNvSpPr txBox="1"/>
          <p:nvPr/>
        </p:nvSpPr>
        <p:spPr>
          <a:xfrm>
            <a:off x="1691680" y="248116"/>
            <a:ext cx="5760640" cy="1092652"/>
          </a:xfrm>
          <a:prstGeom prst="rect">
            <a:avLst/>
          </a:prstGeom>
          <a:noFill/>
        </p:spPr>
        <p:txBody>
          <a:bodyPr wrap="square" rtlCol="0">
            <a:noAutofit/>
          </a:bodyPr>
          <a:lstStyle/>
          <a:p>
            <a:pPr algn="ctr"/>
            <a:r>
              <a:rPr lang="en-US" sz="3200" dirty="0" smtClean="0">
                <a:latin typeface="Bahnschrift" pitchFamily="34" charset="0"/>
              </a:rPr>
              <a:t>Six Traditional Types of Ecommerce Business Models</a:t>
            </a:r>
            <a:endParaRPr lang="en-US" sz="3200" dirty="0">
              <a:latin typeface="Bahnschrift" pitchFamily="34" charset="0"/>
            </a:endParaRPr>
          </a:p>
        </p:txBody>
      </p:sp>
      <p:sp>
        <p:nvSpPr>
          <p:cNvPr id="19" name="Oval 18"/>
          <p:cNvSpPr/>
          <p:nvPr/>
        </p:nvSpPr>
        <p:spPr>
          <a:xfrm>
            <a:off x="4485534" y="4936127"/>
            <a:ext cx="172930" cy="17293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p:cNvSpPr/>
          <p:nvPr/>
        </p:nvSpPr>
        <p:spPr>
          <a:xfrm>
            <a:off x="5904595" y="2532567"/>
            <a:ext cx="172930" cy="17293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p:cNvSpPr/>
          <p:nvPr/>
        </p:nvSpPr>
        <p:spPr>
          <a:xfrm>
            <a:off x="611560" y="4382599"/>
            <a:ext cx="3137397" cy="369332"/>
          </a:xfrm>
          <a:prstGeom prst="rect">
            <a:avLst/>
          </a:prstGeom>
        </p:spPr>
        <p:txBody>
          <a:bodyPr wrap="none">
            <a:spAutoFit/>
          </a:bodyPr>
          <a:lstStyle/>
          <a:p>
            <a:pPr algn="ctr"/>
            <a:r>
              <a:rPr lang="en-IN" b="1" dirty="0" smtClean="0">
                <a:latin typeface="Bahnschrift" pitchFamily="34" charset="0"/>
              </a:rPr>
              <a:t>Business-to-Business (B2B)</a:t>
            </a:r>
            <a:endParaRPr lang="en-IN" b="1" dirty="0">
              <a:latin typeface="Bahnschrift" pitchFamily="34" charset="0"/>
            </a:endParaRPr>
          </a:p>
        </p:txBody>
      </p:sp>
      <p:sp>
        <p:nvSpPr>
          <p:cNvPr id="23" name="Rectangle 22"/>
          <p:cNvSpPr/>
          <p:nvPr/>
        </p:nvSpPr>
        <p:spPr>
          <a:xfrm>
            <a:off x="611560" y="2030120"/>
            <a:ext cx="3246402" cy="369332"/>
          </a:xfrm>
          <a:prstGeom prst="rect">
            <a:avLst/>
          </a:prstGeom>
        </p:spPr>
        <p:txBody>
          <a:bodyPr wrap="none">
            <a:spAutoFit/>
          </a:bodyPr>
          <a:lstStyle/>
          <a:p>
            <a:pPr algn="ctr"/>
            <a:r>
              <a:rPr lang="en-IN" b="1" dirty="0" smtClean="0">
                <a:latin typeface="Bahnschrift" pitchFamily="34" charset="0"/>
              </a:rPr>
              <a:t>Business-to-Consumer (B2C)</a:t>
            </a:r>
            <a:endParaRPr lang="en-IN" b="1" dirty="0">
              <a:latin typeface="Bahnschrift" pitchFamily="34" charset="0"/>
            </a:endParaRPr>
          </a:p>
        </p:txBody>
      </p:sp>
      <p:sp>
        <p:nvSpPr>
          <p:cNvPr id="24" name="Rectangle 23"/>
          <p:cNvSpPr/>
          <p:nvPr/>
        </p:nvSpPr>
        <p:spPr>
          <a:xfrm>
            <a:off x="2894297" y="5161962"/>
            <a:ext cx="3708066" cy="369332"/>
          </a:xfrm>
          <a:prstGeom prst="rect">
            <a:avLst/>
          </a:prstGeom>
        </p:spPr>
        <p:txBody>
          <a:bodyPr wrap="none">
            <a:spAutoFit/>
          </a:bodyPr>
          <a:lstStyle/>
          <a:p>
            <a:pPr algn="ctr"/>
            <a:r>
              <a:rPr lang="en-IN" b="1" dirty="0" smtClean="0">
                <a:latin typeface="Bahnschrift" pitchFamily="34" charset="0"/>
              </a:rPr>
              <a:t>Business-to-Administration (B2A)</a:t>
            </a:r>
            <a:endParaRPr lang="en-IN" b="1" dirty="0">
              <a:latin typeface="Bahnschrift" pitchFamily="34" charset="0"/>
            </a:endParaRPr>
          </a:p>
        </p:txBody>
      </p:sp>
      <p:sp>
        <p:nvSpPr>
          <p:cNvPr id="26" name="Rectangle 25"/>
          <p:cNvSpPr/>
          <p:nvPr/>
        </p:nvSpPr>
        <p:spPr>
          <a:xfrm>
            <a:off x="2894297" y="1367480"/>
            <a:ext cx="3355406" cy="369332"/>
          </a:xfrm>
          <a:prstGeom prst="rect">
            <a:avLst/>
          </a:prstGeom>
        </p:spPr>
        <p:txBody>
          <a:bodyPr wrap="none">
            <a:spAutoFit/>
          </a:bodyPr>
          <a:lstStyle/>
          <a:p>
            <a:pPr algn="ctr"/>
            <a:r>
              <a:rPr lang="en-IN" b="1" dirty="0" smtClean="0">
                <a:latin typeface="Bahnschrift" pitchFamily="34" charset="0"/>
              </a:rPr>
              <a:t>Consumer-to-Consumer (C2C)</a:t>
            </a:r>
            <a:endParaRPr lang="en-IN" b="1" dirty="0">
              <a:latin typeface="Bahnschrift" pitchFamily="34" charset="0"/>
            </a:endParaRPr>
          </a:p>
        </p:txBody>
      </p:sp>
      <p:sp>
        <p:nvSpPr>
          <p:cNvPr id="27" name="Rectangle 26"/>
          <p:cNvSpPr/>
          <p:nvPr/>
        </p:nvSpPr>
        <p:spPr>
          <a:xfrm>
            <a:off x="5231513" y="2030120"/>
            <a:ext cx="3246402" cy="369332"/>
          </a:xfrm>
          <a:prstGeom prst="rect">
            <a:avLst/>
          </a:prstGeom>
        </p:spPr>
        <p:txBody>
          <a:bodyPr wrap="none">
            <a:spAutoFit/>
          </a:bodyPr>
          <a:lstStyle/>
          <a:p>
            <a:pPr algn="ctr"/>
            <a:r>
              <a:rPr lang="en-IN" b="1" dirty="0" smtClean="0">
                <a:latin typeface="Bahnschrift" pitchFamily="34" charset="0"/>
              </a:rPr>
              <a:t>Consumer-to-Business (C2B)</a:t>
            </a:r>
            <a:endParaRPr lang="en-IN" b="1" dirty="0">
              <a:latin typeface="Bahnschrift" pitchFamily="34" charset="0"/>
            </a:endParaRPr>
          </a:p>
        </p:txBody>
      </p:sp>
      <p:sp>
        <p:nvSpPr>
          <p:cNvPr id="28" name="Rectangle 27"/>
          <p:cNvSpPr/>
          <p:nvPr/>
        </p:nvSpPr>
        <p:spPr>
          <a:xfrm>
            <a:off x="4646146" y="4374173"/>
            <a:ext cx="3817071" cy="369332"/>
          </a:xfrm>
          <a:prstGeom prst="rect">
            <a:avLst/>
          </a:prstGeom>
        </p:spPr>
        <p:txBody>
          <a:bodyPr wrap="none">
            <a:spAutoFit/>
          </a:bodyPr>
          <a:lstStyle/>
          <a:p>
            <a:pPr algn="ctr"/>
            <a:r>
              <a:rPr lang="en-IN" b="1" dirty="0" smtClean="0">
                <a:latin typeface="Bahnschrift" pitchFamily="34" charset="0"/>
              </a:rPr>
              <a:t>Consumer-to-Administration (C2A)</a:t>
            </a:r>
            <a:endParaRPr lang="en-IN" b="1" dirty="0">
              <a:latin typeface="Bahnschrift" pitchFamily="34" charset="0"/>
            </a:endParaRPr>
          </a:p>
        </p:txBody>
      </p:sp>
      <p:grpSp>
        <p:nvGrpSpPr>
          <p:cNvPr id="33" name="Group 32"/>
          <p:cNvGrpSpPr/>
          <p:nvPr/>
        </p:nvGrpSpPr>
        <p:grpSpPr>
          <a:xfrm>
            <a:off x="4427984" y="1923781"/>
            <a:ext cx="288032" cy="3005501"/>
            <a:chOff x="4427984" y="1923781"/>
            <a:chExt cx="288032" cy="3005501"/>
          </a:xfrm>
        </p:grpSpPr>
        <p:grpSp>
          <p:nvGrpSpPr>
            <p:cNvPr id="34" name="Group 33"/>
            <p:cNvGrpSpPr/>
            <p:nvPr/>
          </p:nvGrpSpPr>
          <p:grpSpPr>
            <a:xfrm rot="21600000">
              <a:off x="4427984" y="1923781"/>
              <a:ext cx="288032" cy="3005501"/>
              <a:chOff x="4427984" y="1923781"/>
              <a:chExt cx="288032" cy="3005501"/>
            </a:xfrm>
          </p:grpSpPr>
          <p:sp>
            <p:nvSpPr>
              <p:cNvPr id="36" name="Isosceles Triangle 35"/>
              <p:cNvSpPr/>
              <p:nvPr/>
            </p:nvSpPr>
            <p:spPr>
              <a:xfrm>
                <a:off x="4427984" y="1923781"/>
                <a:ext cx="288032" cy="1505219"/>
              </a:xfrm>
              <a:prstGeom prst="triangle">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Isosceles Triangle 36"/>
              <p:cNvSpPr/>
              <p:nvPr/>
            </p:nvSpPr>
            <p:spPr>
              <a:xfrm rot="10800000">
                <a:off x="4427984" y="3424063"/>
                <a:ext cx="288032" cy="1505219"/>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5" name="Oval 34"/>
            <p:cNvSpPr/>
            <p:nvPr/>
          </p:nvSpPr>
          <p:spPr>
            <a:xfrm>
              <a:off x="4427984" y="3284983"/>
              <a:ext cx="288032" cy="288032"/>
            </a:xfrm>
            <a:prstGeom prst="ellipse">
              <a:avLst/>
            </a:prstGeom>
            <a:solidFill>
              <a:schemeClr val="tx1">
                <a:lumMod val="50000"/>
                <a:lumOff val="50000"/>
              </a:schemeClr>
            </a:solidFill>
            <a:ln>
              <a:noFill/>
            </a:ln>
            <a:effectLst>
              <a:outerShdw blurRad="63500" sx="102000" sy="102000" algn="ctr" rotWithShape="0">
                <a:prstClr val="black">
                  <a:alpha val="40000"/>
                </a:prstClr>
              </a:outerShdw>
            </a:effectLst>
            <a:scene3d>
              <a:camera prst="orthographicFront"/>
              <a:lightRig rig="threePt" dir="t"/>
            </a:scene3d>
            <a:sp3d>
              <a:bevelT w="139700" prst="cross"/>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8" name="Oval 37"/>
          <p:cNvSpPr/>
          <p:nvPr/>
        </p:nvSpPr>
        <p:spPr>
          <a:xfrm>
            <a:off x="3059832" y="4129699"/>
            <a:ext cx="172930" cy="17293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Oval 38"/>
          <p:cNvSpPr/>
          <p:nvPr/>
        </p:nvSpPr>
        <p:spPr>
          <a:xfrm>
            <a:off x="3077054" y="2532836"/>
            <a:ext cx="172930" cy="17293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Oval 39"/>
          <p:cNvSpPr/>
          <p:nvPr/>
        </p:nvSpPr>
        <p:spPr>
          <a:xfrm>
            <a:off x="4485534" y="1736812"/>
            <a:ext cx="172930" cy="17293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Oval 40"/>
          <p:cNvSpPr/>
          <p:nvPr/>
        </p:nvSpPr>
        <p:spPr>
          <a:xfrm>
            <a:off x="5904430" y="4129699"/>
            <a:ext cx="172930" cy="17293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92479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3.61111E-6 -1.96532E-6 L 1.00017 -1.96532E-6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30"/>
                                        </p:tgtEl>
                                        <p:attrNameLst>
                                          <p:attrName>style.visibility</p:attrName>
                                        </p:attrNameLst>
                                      </p:cBhvr>
                                      <p:to>
                                        <p:strVal val="visible"/>
                                      </p:to>
                                    </p:set>
                                    <p:anim calcmode="lin" valueType="num">
                                      <p:cBhvr>
                                        <p:cTn id="10"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30"/>
                                        </p:tgtEl>
                                        <p:attrNameLst>
                                          <p:attrName>ppt_y</p:attrName>
                                        </p:attrNameLst>
                                      </p:cBhvr>
                                      <p:tavLst>
                                        <p:tav tm="0">
                                          <p:val>
                                            <p:strVal val="#ppt_y"/>
                                          </p:val>
                                        </p:tav>
                                        <p:tav tm="100000">
                                          <p:val>
                                            <p:strVal val="#ppt_y"/>
                                          </p:val>
                                        </p:tav>
                                      </p:tavLst>
                                    </p:anim>
                                    <p:anim calcmode="lin" valueType="num">
                                      <p:cBhvr>
                                        <p:cTn id="12"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wipe(down)">
                                      <p:cBhvr>
                                        <p:cTn id="19" dur="500"/>
                                        <p:tgtEl>
                                          <p:spTgt spid="33"/>
                                        </p:tgtEl>
                                      </p:cBhvr>
                                    </p:animEffect>
                                  </p:childTnLst>
                                </p:cTn>
                              </p:par>
                            </p:childTnLst>
                          </p:cTn>
                        </p:par>
                      </p:childTnLst>
                    </p:cTn>
                  </p:par>
                  <p:par>
                    <p:cTn id="20" fill="hold">
                      <p:stCondLst>
                        <p:cond delay="indefinite"/>
                      </p:stCondLst>
                      <p:childTnLst>
                        <p:par>
                          <p:cTn id="21" fill="hold">
                            <p:stCondLst>
                              <p:cond delay="0"/>
                            </p:stCondLst>
                            <p:childTnLst>
                              <p:par>
                                <p:cTn id="22" presetID="8" presetClass="emph" presetSubtype="0" fill="hold" nodeType="clickEffect">
                                  <p:stCondLst>
                                    <p:cond delay="0"/>
                                  </p:stCondLst>
                                  <p:childTnLst>
                                    <p:animRot by="3600000">
                                      <p:cBhvr>
                                        <p:cTn id="23" dur="2000" fill="hold"/>
                                        <p:tgtEl>
                                          <p:spTgt spid="33"/>
                                        </p:tgtEl>
                                        <p:attrNameLst>
                                          <p:attrName>r</p:attrName>
                                        </p:attrNameLst>
                                      </p:cBhvr>
                                    </p:animRot>
                                  </p:childTnLst>
                                </p:cTn>
                              </p:par>
                            </p:childTnLst>
                          </p:cTn>
                        </p:par>
                        <p:par>
                          <p:cTn id="24" fill="hold">
                            <p:stCondLst>
                              <p:cond delay="2000"/>
                            </p:stCondLst>
                            <p:childTnLst>
                              <p:par>
                                <p:cTn id="25" presetID="53" presetClass="entr" presetSubtype="16" fill="hold" grpId="0" nodeType="after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p:cTn id="27" dur="500" fill="hold"/>
                                        <p:tgtEl>
                                          <p:spTgt spid="20"/>
                                        </p:tgtEl>
                                        <p:attrNameLst>
                                          <p:attrName>ppt_w</p:attrName>
                                        </p:attrNameLst>
                                      </p:cBhvr>
                                      <p:tavLst>
                                        <p:tav tm="0">
                                          <p:val>
                                            <p:fltVal val="0"/>
                                          </p:val>
                                        </p:tav>
                                        <p:tav tm="100000">
                                          <p:val>
                                            <p:strVal val="#ppt_w"/>
                                          </p:val>
                                        </p:tav>
                                      </p:tavLst>
                                    </p:anim>
                                    <p:anim calcmode="lin" valueType="num">
                                      <p:cBhvr>
                                        <p:cTn id="28" dur="500" fill="hold"/>
                                        <p:tgtEl>
                                          <p:spTgt spid="20"/>
                                        </p:tgtEl>
                                        <p:attrNameLst>
                                          <p:attrName>ppt_h</p:attrName>
                                        </p:attrNameLst>
                                      </p:cBhvr>
                                      <p:tavLst>
                                        <p:tav tm="0">
                                          <p:val>
                                            <p:fltVal val="0"/>
                                          </p:val>
                                        </p:tav>
                                        <p:tav tm="100000">
                                          <p:val>
                                            <p:strVal val="#ppt_h"/>
                                          </p:val>
                                        </p:tav>
                                      </p:tavLst>
                                    </p:anim>
                                    <p:animEffect transition="in" filter="fade">
                                      <p:cBhvr>
                                        <p:cTn id="29" dur="500"/>
                                        <p:tgtEl>
                                          <p:spTgt spid="20"/>
                                        </p:tgtEl>
                                      </p:cBhvr>
                                    </p:animEffect>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childTnLst>
                          </p:cTn>
                        </p:par>
                      </p:childTnLst>
                    </p:cTn>
                  </p:par>
                  <p:par>
                    <p:cTn id="34" fill="hold">
                      <p:stCondLst>
                        <p:cond delay="indefinite"/>
                      </p:stCondLst>
                      <p:childTnLst>
                        <p:par>
                          <p:cTn id="35" fill="hold">
                            <p:stCondLst>
                              <p:cond delay="0"/>
                            </p:stCondLst>
                            <p:childTnLst>
                              <p:par>
                                <p:cTn id="36" presetID="8" presetClass="emph" presetSubtype="0" fill="hold" nodeType="clickEffect">
                                  <p:stCondLst>
                                    <p:cond delay="0"/>
                                  </p:stCondLst>
                                  <p:childTnLst>
                                    <p:animRot by="3600000">
                                      <p:cBhvr>
                                        <p:cTn id="37" dur="2000" fill="hold"/>
                                        <p:tgtEl>
                                          <p:spTgt spid="33"/>
                                        </p:tgtEl>
                                        <p:attrNameLst>
                                          <p:attrName>r</p:attrName>
                                        </p:attrNameLst>
                                      </p:cBhvr>
                                    </p:animRot>
                                  </p:childTnLst>
                                </p:cTn>
                              </p:par>
                            </p:childTnLst>
                          </p:cTn>
                        </p:par>
                        <p:par>
                          <p:cTn id="38" fill="hold">
                            <p:stCondLst>
                              <p:cond delay="2000"/>
                            </p:stCondLst>
                            <p:childTnLst>
                              <p:par>
                                <p:cTn id="39" presetID="53" presetClass="entr" presetSubtype="16" fill="hold" grpId="0" nodeType="afterEffect">
                                  <p:stCondLst>
                                    <p:cond delay="0"/>
                                  </p:stCondLst>
                                  <p:childTnLst>
                                    <p:set>
                                      <p:cBhvr>
                                        <p:cTn id="40" dur="1" fill="hold">
                                          <p:stCondLst>
                                            <p:cond delay="0"/>
                                          </p:stCondLst>
                                        </p:cTn>
                                        <p:tgtEl>
                                          <p:spTgt spid="41"/>
                                        </p:tgtEl>
                                        <p:attrNameLst>
                                          <p:attrName>style.visibility</p:attrName>
                                        </p:attrNameLst>
                                      </p:cBhvr>
                                      <p:to>
                                        <p:strVal val="visible"/>
                                      </p:to>
                                    </p:set>
                                    <p:anim calcmode="lin" valueType="num">
                                      <p:cBhvr>
                                        <p:cTn id="41" dur="500" fill="hold"/>
                                        <p:tgtEl>
                                          <p:spTgt spid="41"/>
                                        </p:tgtEl>
                                        <p:attrNameLst>
                                          <p:attrName>ppt_w</p:attrName>
                                        </p:attrNameLst>
                                      </p:cBhvr>
                                      <p:tavLst>
                                        <p:tav tm="0">
                                          <p:val>
                                            <p:fltVal val="0"/>
                                          </p:val>
                                        </p:tav>
                                        <p:tav tm="100000">
                                          <p:val>
                                            <p:strVal val="#ppt_w"/>
                                          </p:val>
                                        </p:tav>
                                      </p:tavLst>
                                    </p:anim>
                                    <p:anim calcmode="lin" valueType="num">
                                      <p:cBhvr>
                                        <p:cTn id="42" dur="500" fill="hold"/>
                                        <p:tgtEl>
                                          <p:spTgt spid="41"/>
                                        </p:tgtEl>
                                        <p:attrNameLst>
                                          <p:attrName>ppt_h</p:attrName>
                                        </p:attrNameLst>
                                      </p:cBhvr>
                                      <p:tavLst>
                                        <p:tav tm="0">
                                          <p:val>
                                            <p:fltVal val="0"/>
                                          </p:val>
                                        </p:tav>
                                        <p:tav tm="100000">
                                          <p:val>
                                            <p:strVal val="#ppt_h"/>
                                          </p:val>
                                        </p:tav>
                                      </p:tavLst>
                                    </p:anim>
                                    <p:animEffect transition="in" filter="fade">
                                      <p:cBhvr>
                                        <p:cTn id="43" dur="500"/>
                                        <p:tgtEl>
                                          <p:spTgt spid="41"/>
                                        </p:tgtEl>
                                      </p:cBhvr>
                                    </p:animEffect>
                                  </p:childTnLst>
                                </p:cTn>
                              </p:par>
                            </p:childTnLst>
                          </p:cTn>
                        </p:par>
                        <p:par>
                          <p:cTn id="44" fill="hold">
                            <p:stCondLst>
                              <p:cond delay="2500"/>
                            </p:stCondLst>
                            <p:childTnLst>
                              <p:par>
                                <p:cTn id="45" presetID="10" presetClass="entr" presetSubtype="0" fill="hold" grpId="0" nodeType="after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00"/>
                                        <p:tgtEl>
                                          <p:spTgt spid="28"/>
                                        </p:tgtEl>
                                      </p:cBhvr>
                                    </p:animEffect>
                                  </p:childTnLst>
                                </p:cTn>
                              </p:par>
                            </p:childTnLst>
                          </p:cTn>
                        </p:par>
                      </p:childTnLst>
                    </p:cTn>
                  </p:par>
                  <p:par>
                    <p:cTn id="48" fill="hold">
                      <p:stCondLst>
                        <p:cond delay="indefinite"/>
                      </p:stCondLst>
                      <p:childTnLst>
                        <p:par>
                          <p:cTn id="49" fill="hold">
                            <p:stCondLst>
                              <p:cond delay="0"/>
                            </p:stCondLst>
                            <p:childTnLst>
                              <p:par>
                                <p:cTn id="50" presetID="8" presetClass="emph" presetSubtype="0" fill="hold" nodeType="clickEffect">
                                  <p:stCondLst>
                                    <p:cond delay="0"/>
                                  </p:stCondLst>
                                  <p:childTnLst>
                                    <p:animRot by="3600000">
                                      <p:cBhvr>
                                        <p:cTn id="51" dur="2000" fill="hold"/>
                                        <p:tgtEl>
                                          <p:spTgt spid="33"/>
                                        </p:tgtEl>
                                        <p:attrNameLst>
                                          <p:attrName>r</p:attrName>
                                        </p:attrNameLst>
                                      </p:cBhvr>
                                    </p:animRot>
                                  </p:childTnLst>
                                </p:cTn>
                              </p:par>
                            </p:childTnLst>
                          </p:cTn>
                        </p:par>
                        <p:par>
                          <p:cTn id="52" fill="hold">
                            <p:stCondLst>
                              <p:cond delay="2000"/>
                            </p:stCondLst>
                            <p:childTnLst>
                              <p:par>
                                <p:cTn id="53" presetID="53" presetClass="entr" presetSubtype="16"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p:cTn id="55" dur="500" fill="hold"/>
                                        <p:tgtEl>
                                          <p:spTgt spid="19"/>
                                        </p:tgtEl>
                                        <p:attrNameLst>
                                          <p:attrName>ppt_w</p:attrName>
                                        </p:attrNameLst>
                                      </p:cBhvr>
                                      <p:tavLst>
                                        <p:tav tm="0">
                                          <p:val>
                                            <p:fltVal val="0"/>
                                          </p:val>
                                        </p:tav>
                                        <p:tav tm="100000">
                                          <p:val>
                                            <p:strVal val="#ppt_w"/>
                                          </p:val>
                                        </p:tav>
                                      </p:tavLst>
                                    </p:anim>
                                    <p:anim calcmode="lin" valueType="num">
                                      <p:cBhvr>
                                        <p:cTn id="56" dur="500" fill="hold"/>
                                        <p:tgtEl>
                                          <p:spTgt spid="19"/>
                                        </p:tgtEl>
                                        <p:attrNameLst>
                                          <p:attrName>ppt_h</p:attrName>
                                        </p:attrNameLst>
                                      </p:cBhvr>
                                      <p:tavLst>
                                        <p:tav tm="0">
                                          <p:val>
                                            <p:fltVal val="0"/>
                                          </p:val>
                                        </p:tav>
                                        <p:tav tm="100000">
                                          <p:val>
                                            <p:strVal val="#ppt_h"/>
                                          </p:val>
                                        </p:tav>
                                      </p:tavLst>
                                    </p:anim>
                                    <p:animEffect transition="in" filter="fade">
                                      <p:cBhvr>
                                        <p:cTn id="57" dur="500"/>
                                        <p:tgtEl>
                                          <p:spTgt spid="19"/>
                                        </p:tgtEl>
                                      </p:cBhvr>
                                    </p:animEffect>
                                  </p:childTnLst>
                                </p:cTn>
                              </p:par>
                            </p:childTnLst>
                          </p:cTn>
                        </p:par>
                        <p:par>
                          <p:cTn id="58" fill="hold">
                            <p:stCondLst>
                              <p:cond delay="2500"/>
                            </p:stCondLst>
                            <p:childTnLst>
                              <p:par>
                                <p:cTn id="59" presetID="10" presetClass="entr" presetSubtype="0" fill="hold" grpId="0" nodeType="after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childTnLst>
                          </p:cTn>
                        </p:par>
                      </p:childTnLst>
                    </p:cTn>
                  </p:par>
                  <p:par>
                    <p:cTn id="62" fill="hold">
                      <p:stCondLst>
                        <p:cond delay="indefinite"/>
                      </p:stCondLst>
                      <p:childTnLst>
                        <p:par>
                          <p:cTn id="63" fill="hold">
                            <p:stCondLst>
                              <p:cond delay="0"/>
                            </p:stCondLst>
                            <p:childTnLst>
                              <p:par>
                                <p:cTn id="64" presetID="8" presetClass="emph" presetSubtype="0" fill="hold" nodeType="clickEffect">
                                  <p:stCondLst>
                                    <p:cond delay="0"/>
                                  </p:stCondLst>
                                  <p:childTnLst>
                                    <p:animRot by="3600000">
                                      <p:cBhvr>
                                        <p:cTn id="65" dur="2000" fill="hold"/>
                                        <p:tgtEl>
                                          <p:spTgt spid="33"/>
                                        </p:tgtEl>
                                        <p:attrNameLst>
                                          <p:attrName>r</p:attrName>
                                        </p:attrNameLst>
                                      </p:cBhvr>
                                    </p:animRot>
                                  </p:childTnLst>
                                </p:cTn>
                              </p:par>
                            </p:childTnLst>
                          </p:cTn>
                        </p:par>
                        <p:par>
                          <p:cTn id="66" fill="hold">
                            <p:stCondLst>
                              <p:cond delay="2000"/>
                            </p:stCondLst>
                            <p:childTnLst>
                              <p:par>
                                <p:cTn id="67" presetID="53" presetClass="entr" presetSubtype="16" fill="hold" grpId="0" nodeType="afterEffect">
                                  <p:stCondLst>
                                    <p:cond delay="0"/>
                                  </p:stCondLst>
                                  <p:childTnLst>
                                    <p:set>
                                      <p:cBhvr>
                                        <p:cTn id="68" dur="1" fill="hold">
                                          <p:stCondLst>
                                            <p:cond delay="0"/>
                                          </p:stCondLst>
                                        </p:cTn>
                                        <p:tgtEl>
                                          <p:spTgt spid="38"/>
                                        </p:tgtEl>
                                        <p:attrNameLst>
                                          <p:attrName>style.visibility</p:attrName>
                                        </p:attrNameLst>
                                      </p:cBhvr>
                                      <p:to>
                                        <p:strVal val="visible"/>
                                      </p:to>
                                    </p:set>
                                    <p:anim calcmode="lin" valueType="num">
                                      <p:cBhvr>
                                        <p:cTn id="69" dur="500" fill="hold"/>
                                        <p:tgtEl>
                                          <p:spTgt spid="38"/>
                                        </p:tgtEl>
                                        <p:attrNameLst>
                                          <p:attrName>ppt_w</p:attrName>
                                        </p:attrNameLst>
                                      </p:cBhvr>
                                      <p:tavLst>
                                        <p:tav tm="0">
                                          <p:val>
                                            <p:fltVal val="0"/>
                                          </p:val>
                                        </p:tav>
                                        <p:tav tm="100000">
                                          <p:val>
                                            <p:strVal val="#ppt_w"/>
                                          </p:val>
                                        </p:tav>
                                      </p:tavLst>
                                    </p:anim>
                                    <p:anim calcmode="lin" valueType="num">
                                      <p:cBhvr>
                                        <p:cTn id="70" dur="500" fill="hold"/>
                                        <p:tgtEl>
                                          <p:spTgt spid="38"/>
                                        </p:tgtEl>
                                        <p:attrNameLst>
                                          <p:attrName>ppt_h</p:attrName>
                                        </p:attrNameLst>
                                      </p:cBhvr>
                                      <p:tavLst>
                                        <p:tav tm="0">
                                          <p:val>
                                            <p:fltVal val="0"/>
                                          </p:val>
                                        </p:tav>
                                        <p:tav tm="100000">
                                          <p:val>
                                            <p:strVal val="#ppt_h"/>
                                          </p:val>
                                        </p:tav>
                                      </p:tavLst>
                                    </p:anim>
                                    <p:animEffect transition="in" filter="fade">
                                      <p:cBhvr>
                                        <p:cTn id="71" dur="500"/>
                                        <p:tgtEl>
                                          <p:spTgt spid="38"/>
                                        </p:tgtEl>
                                      </p:cBhvr>
                                    </p:animEffect>
                                  </p:childTnLst>
                                </p:cTn>
                              </p:par>
                            </p:childTnLst>
                          </p:cTn>
                        </p:par>
                        <p:par>
                          <p:cTn id="72" fill="hold">
                            <p:stCondLst>
                              <p:cond delay="2500"/>
                            </p:stCondLst>
                            <p:childTnLst>
                              <p:par>
                                <p:cTn id="73" presetID="10" presetClass="entr" presetSubtype="0" fill="hold" grpId="0" nodeType="after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500"/>
                                        <p:tgtEl>
                                          <p:spTgt spid="21"/>
                                        </p:tgtEl>
                                      </p:cBhvr>
                                    </p:animEffect>
                                  </p:childTnLst>
                                </p:cTn>
                              </p:par>
                            </p:childTnLst>
                          </p:cTn>
                        </p:par>
                      </p:childTnLst>
                    </p:cTn>
                  </p:par>
                  <p:par>
                    <p:cTn id="76" fill="hold">
                      <p:stCondLst>
                        <p:cond delay="indefinite"/>
                      </p:stCondLst>
                      <p:childTnLst>
                        <p:par>
                          <p:cTn id="77" fill="hold">
                            <p:stCondLst>
                              <p:cond delay="0"/>
                            </p:stCondLst>
                            <p:childTnLst>
                              <p:par>
                                <p:cTn id="78" presetID="8" presetClass="emph" presetSubtype="0" fill="hold" nodeType="clickEffect">
                                  <p:stCondLst>
                                    <p:cond delay="0"/>
                                  </p:stCondLst>
                                  <p:childTnLst>
                                    <p:animRot by="3600000">
                                      <p:cBhvr>
                                        <p:cTn id="79" dur="2000" fill="hold"/>
                                        <p:tgtEl>
                                          <p:spTgt spid="33"/>
                                        </p:tgtEl>
                                        <p:attrNameLst>
                                          <p:attrName>r</p:attrName>
                                        </p:attrNameLst>
                                      </p:cBhvr>
                                    </p:animRot>
                                  </p:childTnLst>
                                </p:cTn>
                              </p:par>
                            </p:childTnLst>
                          </p:cTn>
                        </p:par>
                        <p:par>
                          <p:cTn id="80" fill="hold">
                            <p:stCondLst>
                              <p:cond delay="2000"/>
                            </p:stCondLst>
                            <p:childTnLst>
                              <p:par>
                                <p:cTn id="81" presetID="53" presetClass="entr" presetSubtype="16" fill="hold" grpId="0" nodeType="afterEffect">
                                  <p:stCondLst>
                                    <p:cond delay="0"/>
                                  </p:stCondLst>
                                  <p:childTnLst>
                                    <p:set>
                                      <p:cBhvr>
                                        <p:cTn id="82" dur="1" fill="hold">
                                          <p:stCondLst>
                                            <p:cond delay="0"/>
                                          </p:stCondLst>
                                        </p:cTn>
                                        <p:tgtEl>
                                          <p:spTgt spid="39"/>
                                        </p:tgtEl>
                                        <p:attrNameLst>
                                          <p:attrName>style.visibility</p:attrName>
                                        </p:attrNameLst>
                                      </p:cBhvr>
                                      <p:to>
                                        <p:strVal val="visible"/>
                                      </p:to>
                                    </p:set>
                                    <p:anim calcmode="lin" valueType="num">
                                      <p:cBhvr>
                                        <p:cTn id="83" dur="500" fill="hold"/>
                                        <p:tgtEl>
                                          <p:spTgt spid="39"/>
                                        </p:tgtEl>
                                        <p:attrNameLst>
                                          <p:attrName>ppt_w</p:attrName>
                                        </p:attrNameLst>
                                      </p:cBhvr>
                                      <p:tavLst>
                                        <p:tav tm="0">
                                          <p:val>
                                            <p:fltVal val="0"/>
                                          </p:val>
                                        </p:tav>
                                        <p:tav tm="100000">
                                          <p:val>
                                            <p:strVal val="#ppt_w"/>
                                          </p:val>
                                        </p:tav>
                                      </p:tavLst>
                                    </p:anim>
                                    <p:anim calcmode="lin" valueType="num">
                                      <p:cBhvr>
                                        <p:cTn id="84" dur="500" fill="hold"/>
                                        <p:tgtEl>
                                          <p:spTgt spid="39"/>
                                        </p:tgtEl>
                                        <p:attrNameLst>
                                          <p:attrName>ppt_h</p:attrName>
                                        </p:attrNameLst>
                                      </p:cBhvr>
                                      <p:tavLst>
                                        <p:tav tm="0">
                                          <p:val>
                                            <p:fltVal val="0"/>
                                          </p:val>
                                        </p:tav>
                                        <p:tav tm="100000">
                                          <p:val>
                                            <p:strVal val="#ppt_h"/>
                                          </p:val>
                                        </p:tav>
                                      </p:tavLst>
                                    </p:anim>
                                    <p:animEffect transition="in" filter="fade">
                                      <p:cBhvr>
                                        <p:cTn id="85" dur="500"/>
                                        <p:tgtEl>
                                          <p:spTgt spid="39"/>
                                        </p:tgtEl>
                                      </p:cBhvr>
                                    </p:animEffect>
                                  </p:childTnLst>
                                </p:cTn>
                              </p:par>
                            </p:childTnLst>
                          </p:cTn>
                        </p:par>
                        <p:par>
                          <p:cTn id="86" fill="hold">
                            <p:stCondLst>
                              <p:cond delay="2500"/>
                            </p:stCondLst>
                            <p:childTnLst>
                              <p:par>
                                <p:cTn id="87" presetID="10" presetClass="entr" presetSubtype="0" fill="hold" grpId="0" nodeType="afterEffect">
                                  <p:stCondLst>
                                    <p:cond delay="0"/>
                                  </p:stCondLst>
                                  <p:childTnLst>
                                    <p:set>
                                      <p:cBhvr>
                                        <p:cTn id="88" dur="1" fill="hold">
                                          <p:stCondLst>
                                            <p:cond delay="0"/>
                                          </p:stCondLst>
                                        </p:cTn>
                                        <p:tgtEl>
                                          <p:spTgt spid="23"/>
                                        </p:tgtEl>
                                        <p:attrNameLst>
                                          <p:attrName>style.visibility</p:attrName>
                                        </p:attrNameLst>
                                      </p:cBhvr>
                                      <p:to>
                                        <p:strVal val="visible"/>
                                      </p:to>
                                    </p:set>
                                    <p:animEffect transition="in" filter="fade">
                                      <p:cBhvr>
                                        <p:cTn id="89" dur="500"/>
                                        <p:tgtEl>
                                          <p:spTgt spid="23"/>
                                        </p:tgtEl>
                                      </p:cBhvr>
                                    </p:animEffect>
                                  </p:childTnLst>
                                </p:cTn>
                              </p:par>
                            </p:childTnLst>
                          </p:cTn>
                        </p:par>
                      </p:childTnLst>
                    </p:cTn>
                  </p:par>
                  <p:par>
                    <p:cTn id="90" fill="hold">
                      <p:stCondLst>
                        <p:cond delay="indefinite"/>
                      </p:stCondLst>
                      <p:childTnLst>
                        <p:par>
                          <p:cTn id="91" fill="hold">
                            <p:stCondLst>
                              <p:cond delay="0"/>
                            </p:stCondLst>
                            <p:childTnLst>
                              <p:par>
                                <p:cTn id="92" presetID="8" presetClass="emph" presetSubtype="0" fill="hold" nodeType="clickEffect">
                                  <p:stCondLst>
                                    <p:cond delay="0"/>
                                  </p:stCondLst>
                                  <p:childTnLst>
                                    <p:animRot by="3600000">
                                      <p:cBhvr>
                                        <p:cTn id="93" dur="2000" fill="hold"/>
                                        <p:tgtEl>
                                          <p:spTgt spid="33"/>
                                        </p:tgtEl>
                                        <p:attrNameLst>
                                          <p:attrName>r</p:attrName>
                                        </p:attrNameLst>
                                      </p:cBhvr>
                                    </p:animRot>
                                  </p:childTnLst>
                                </p:cTn>
                              </p:par>
                            </p:childTnLst>
                          </p:cTn>
                        </p:par>
                        <p:par>
                          <p:cTn id="94" fill="hold">
                            <p:stCondLst>
                              <p:cond delay="2000"/>
                            </p:stCondLst>
                            <p:childTnLst>
                              <p:par>
                                <p:cTn id="95" presetID="53" presetClass="entr" presetSubtype="16" fill="hold" grpId="0" nodeType="afterEffect">
                                  <p:stCondLst>
                                    <p:cond delay="0"/>
                                  </p:stCondLst>
                                  <p:childTnLst>
                                    <p:set>
                                      <p:cBhvr>
                                        <p:cTn id="96" dur="1" fill="hold">
                                          <p:stCondLst>
                                            <p:cond delay="0"/>
                                          </p:stCondLst>
                                        </p:cTn>
                                        <p:tgtEl>
                                          <p:spTgt spid="40"/>
                                        </p:tgtEl>
                                        <p:attrNameLst>
                                          <p:attrName>style.visibility</p:attrName>
                                        </p:attrNameLst>
                                      </p:cBhvr>
                                      <p:to>
                                        <p:strVal val="visible"/>
                                      </p:to>
                                    </p:set>
                                    <p:anim calcmode="lin" valueType="num">
                                      <p:cBhvr>
                                        <p:cTn id="97" dur="500" fill="hold"/>
                                        <p:tgtEl>
                                          <p:spTgt spid="40"/>
                                        </p:tgtEl>
                                        <p:attrNameLst>
                                          <p:attrName>ppt_w</p:attrName>
                                        </p:attrNameLst>
                                      </p:cBhvr>
                                      <p:tavLst>
                                        <p:tav tm="0">
                                          <p:val>
                                            <p:fltVal val="0"/>
                                          </p:val>
                                        </p:tav>
                                        <p:tav tm="100000">
                                          <p:val>
                                            <p:strVal val="#ppt_w"/>
                                          </p:val>
                                        </p:tav>
                                      </p:tavLst>
                                    </p:anim>
                                    <p:anim calcmode="lin" valueType="num">
                                      <p:cBhvr>
                                        <p:cTn id="98" dur="500" fill="hold"/>
                                        <p:tgtEl>
                                          <p:spTgt spid="40"/>
                                        </p:tgtEl>
                                        <p:attrNameLst>
                                          <p:attrName>ppt_h</p:attrName>
                                        </p:attrNameLst>
                                      </p:cBhvr>
                                      <p:tavLst>
                                        <p:tav tm="0">
                                          <p:val>
                                            <p:fltVal val="0"/>
                                          </p:val>
                                        </p:tav>
                                        <p:tav tm="100000">
                                          <p:val>
                                            <p:strVal val="#ppt_h"/>
                                          </p:val>
                                        </p:tav>
                                      </p:tavLst>
                                    </p:anim>
                                    <p:animEffect transition="in" filter="fade">
                                      <p:cBhvr>
                                        <p:cTn id="99" dur="500"/>
                                        <p:tgtEl>
                                          <p:spTgt spid="40"/>
                                        </p:tgtEl>
                                      </p:cBhvr>
                                    </p:animEffect>
                                  </p:childTnLst>
                                </p:cTn>
                              </p:par>
                            </p:childTnLst>
                          </p:cTn>
                        </p:par>
                        <p:par>
                          <p:cTn id="100" fill="hold">
                            <p:stCondLst>
                              <p:cond delay="2500"/>
                            </p:stCondLst>
                            <p:childTnLst>
                              <p:par>
                                <p:cTn id="101" presetID="10" presetClass="entr" presetSubtype="0" fill="hold" grpId="0" nodeType="afterEffect">
                                  <p:stCondLst>
                                    <p:cond delay="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19" grpId="0" animBg="1"/>
      <p:bldP spid="20" grpId="0" animBg="1"/>
      <p:bldP spid="21" grpId="0"/>
      <p:bldP spid="23" grpId="0"/>
      <p:bldP spid="24" grpId="0"/>
      <p:bldP spid="26" grpId="0"/>
      <p:bldP spid="27" grpId="0"/>
      <p:bldP spid="28" grpId="0"/>
      <p:bldP spid="38" grpId="0" animBg="1"/>
      <p:bldP spid="39" grpId="0" animBg="1"/>
      <p:bldP spid="40" grpId="0" animBg="1"/>
      <p:bldP spid="4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574" y="0"/>
            <a:ext cx="9161187" cy="6858000"/>
            <a:chOff x="-9144000" y="0"/>
            <a:chExt cx="9161187" cy="6858000"/>
          </a:xfrm>
        </p:grpSpPr>
        <p:sp>
          <p:nvSpPr>
            <p:cNvPr id="12" name="Rectangle 11"/>
            <p:cNvSpPr/>
            <p:nvPr/>
          </p:nvSpPr>
          <p:spPr>
            <a:xfrm>
              <a:off x="-914400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3" name="Group 12"/>
            <p:cNvGrpSpPr/>
            <p:nvPr/>
          </p:nvGrpSpPr>
          <p:grpSpPr>
            <a:xfrm>
              <a:off x="-522365" y="1736812"/>
              <a:ext cx="539552" cy="3384375"/>
              <a:chOff x="-522365" y="1736812"/>
              <a:chExt cx="539552" cy="3384375"/>
            </a:xfrm>
          </p:grpSpPr>
          <p:sp>
            <p:nvSpPr>
              <p:cNvPr id="14" name="Rounded Rectangle 13"/>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Types</a:t>
                </a:r>
                <a:endParaRPr lang="en-IN" sz="2400" b="1" dirty="0">
                  <a:latin typeface="Bahnschrift Light" pitchFamily="34" charset="0"/>
                </a:endParaRPr>
              </a:p>
            </p:txBody>
          </p:sp>
        </p:grpSp>
      </p:grpSp>
      <p:grpSp>
        <p:nvGrpSpPr>
          <p:cNvPr id="11" name="Group 10"/>
          <p:cNvGrpSpPr/>
          <p:nvPr/>
        </p:nvGrpSpPr>
        <p:grpSpPr>
          <a:xfrm>
            <a:off x="-9154613" y="0"/>
            <a:ext cx="9161187" cy="6858000"/>
            <a:chOff x="-9144000" y="0"/>
            <a:chExt cx="9161187" cy="6858000"/>
          </a:xfrm>
          <a:solidFill>
            <a:schemeClr val="bg1">
              <a:lumMod val="95000"/>
            </a:schemeClr>
          </a:solidFill>
        </p:grpSpPr>
        <p:sp>
          <p:nvSpPr>
            <p:cNvPr id="4" name="Rectangle 3"/>
            <p:cNvSpPr/>
            <p:nvPr/>
          </p:nvSpPr>
          <p:spPr>
            <a:xfrm>
              <a:off x="-9144000" y="0"/>
              <a:ext cx="9144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a:grpFill/>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Major Brands</a:t>
                </a:r>
                <a:endParaRPr lang="en-IN" sz="2400" b="1" dirty="0">
                  <a:latin typeface="Bahnschrift Light" pitchFamily="34" charset="0"/>
                </a:endParaRPr>
              </a:p>
            </p:txBody>
          </p:sp>
        </p:grpSp>
      </p:grpSp>
      <p:sp>
        <p:nvSpPr>
          <p:cNvPr id="30" name="TextBox 29"/>
          <p:cNvSpPr txBox="1"/>
          <p:nvPr/>
        </p:nvSpPr>
        <p:spPr>
          <a:xfrm>
            <a:off x="1691680" y="248116"/>
            <a:ext cx="5760640" cy="1092652"/>
          </a:xfrm>
          <a:prstGeom prst="rect">
            <a:avLst/>
          </a:prstGeom>
          <a:noFill/>
        </p:spPr>
        <p:txBody>
          <a:bodyPr wrap="square" rtlCol="0">
            <a:noAutofit/>
          </a:bodyPr>
          <a:lstStyle/>
          <a:p>
            <a:pPr algn="ctr"/>
            <a:r>
              <a:rPr lang="en-US" sz="3200" dirty="0" smtClean="0">
                <a:latin typeface="Bahnschrift" pitchFamily="34" charset="0"/>
              </a:rPr>
              <a:t>Major Brands Example</a:t>
            </a:r>
            <a:endParaRPr lang="en-US" sz="3200" dirty="0">
              <a:latin typeface="Bahnschrift" pitchFamily="34"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76" y="1543513"/>
            <a:ext cx="7632848" cy="429347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040376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3.61111E-6 -1.96532E-6 L 1.00017 -1.96532E-6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30"/>
                                        </p:tgtEl>
                                        <p:attrNameLst>
                                          <p:attrName>style.visibility</p:attrName>
                                        </p:attrNameLst>
                                      </p:cBhvr>
                                      <p:to>
                                        <p:strVal val="visible"/>
                                      </p:to>
                                    </p:set>
                                    <p:anim calcmode="lin" valueType="num">
                                      <p:cBhvr>
                                        <p:cTn id="10"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30"/>
                                        </p:tgtEl>
                                        <p:attrNameLst>
                                          <p:attrName>ppt_y</p:attrName>
                                        </p:attrNameLst>
                                      </p:cBhvr>
                                      <p:tavLst>
                                        <p:tav tm="0">
                                          <p:val>
                                            <p:strVal val="#ppt_y"/>
                                          </p:val>
                                        </p:tav>
                                        <p:tav tm="100000">
                                          <p:val>
                                            <p:strVal val="#ppt_y"/>
                                          </p:val>
                                        </p:tav>
                                      </p:tavLst>
                                    </p:anim>
                                    <p:anim calcmode="lin" valueType="num">
                                      <p:cBhvr>
                                        <p:cTn id="12"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49" presetClass="entr" presetSubtype="0" decel="10000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2000" fill="hold"/>
                                        <p:tgtEl>
                                          <p:spTgt spid="2"/>
                                        </p:tgtEl>
                                        <p:attrNameLst>
                                          <p:attrName>ppt_w</p:attrName>
                                        </p:attrNameLst>
                                      </p:cBhvr>
                                      <p:tavLst>
                                        <p:tav tm="0">
                                          <p:val>
                                            <p:fltVal val="0"/>
                                          </p:val>
                                        </p:tav>
                                        <p:tav tm="100000">
                                          <p:val>
                                            <p:strVal val="#ppt_w"/>
                                          </p:val>
                                        </p:tav>
                                      </p:tavLst>
                                    </p:anim>
                                    <p:anim calcmode="lin" valueType="num">
                                      <p:cBhvr>
                                        <p:cTn id="20" dur="2000" fill="hold"/>
                                        <p:tgtEl>
                                          <p:spTgt spid="2"/>
                                        </p:tgtEl>
                                        <p:attrNameLst>
                                          <p:attrName>ppt_h</p:attrName>
                                        </p:attrNameLst>
                                      </p:cBhvr>
                                      <p:tavLst>
                                        <p:tav tm="0">
                                          <p:val>
                                            <p:fltVal val="0"/>
                                          </p:val>
                                        </p:tav>
                                        <p:tav tm="100000">
                                          <p:val>
                                            <p:strVal val="#ppt_h"/>
                                          </p:val>
                                        </p:tav>
                                      </p:tavLst>
                                    </p:anim>
                                    <p:anim calcmode="lin" valueType="num">
                                      <p:cBhvr>
                                        <p:cTn id="21" dur="2000" fill="hold"/>
                                        <p:tgtEl>
                                          <p:spTgt spid="2"/>
                                        </p:tgtEl>
                                        <p:attrNameLst>
                                          <p:attrName>style.rotation</p:attrName>
                                        </p:attrNameLst>
                                      </p:cBhvr>
                                      <p:tavLst>
                                        <p:tav tm="0">
                                          <p:val>
                                            <p:fltVal val="360"/>
                                          </p:val>
                                        </p:tav>
                                        <p:tav tm="100000">
                                          <p:val>
                                            <p:fltVal val="0"/>
                                          </p:val>
                                        </p:tav>
                                      </p:tavLst>
                                    </p:anim>
                                    <p:animEffect transition="in" filter="fade">
                                      <p:cBhvr>
                                        <p:cTn id="2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574" y="0"/>
            <a:ext cx="9161187" cy="6858000"/>
            <a:chOff x="-9144000" y="0"/>
            <a:chExt cx="9161187" cy="6858000"/>
          </a:xfrm>
        </p:grpSpPr>
        <p:sp>
          <p:nvSpPr>
            <p:cNvPr id="12" name="Rectangle 11"/>
            <p:cNvSpPr/>
            <p:nvPr/>
          </p:nvSpPr>
          <p:spPr>
            <a:xfrm>
              <a:off x="-914400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3" name="Group 12"/>
            <p:cNvGrpSpPr/>
            <p:nvPr/>
          </p:nvGrpSpPr>
          <p:grpSpPr>
            <a:xfrm>
              <a:off x="-522365" y="1736812"/>
              <a:ext cx="539552" cy="3384375"/>
              <a:chOff x="-522365" y="1736812"/>
              <a:chExt cx="539552" cy="3384375"/>
            </a:xfrm>
          </p:grpSpPr>
          <p:sp>
            <p:nvSpPr>
              <p:cNvPr id="14" name="Rounded Rectangle 13"/>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Major Brands</a:t>
                </a:r>
                <a:endParaRPr lang="en-IN" sz="2400" b="1" dirty="0">
                  <a:latin typeface="Bahnschrift Light" pitchFamily="34" charset="0"/>
                </a:endParaRPr>
              </a:p>
            </p:txBody>
          </p:sp>
        </p:grpSp>
      </p:grpSp>
      <p:grpSp>
        <p:nvGrpSpPr>
          <p:cNvPr id="11" name="Group 10"/>
          <p:cNvGrpSpPr/>
          <p:nvPr/>
        </p:nvGrpSpPr>
        <p:grpSpPr>
          <a:xfrm>
            <a:off x="-9154613" y="0"/>
            <a:ext cx="9161187" cy="6858000"/>
            <a:chOff x="-9144000" y="0"/>
            <a:chExt cx="9161187" cy="6858000"/>
          </a:xfrm>
          <a:solidFill>
            <a:schemeClr val="bg1">
              <a:lumMod val="95000"/>
            </a:schemeClr>
          </a:solidFill>
        </p:grpSpPr>
        <p:sp>
          <p:nvSpPr>
            <p:cNvPr id="4" name="Rectangle 3"/>
            <p:cNvSpPr/>
            <p:nvPr/>
          </p:nvSpPr>
          <p:spPr>
            <a:xfrm>
              <a:off x="-9144000" y="0"/>
              <a:ext cx="9144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a:grpFill/>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B2B</a:t>
                </a:r>
                <a:endParaRPr lang="en-IN" sz="2400" b="1" dirty="0">
                  <a:latin typeface="Bahnschrift Light" pitchFamily="34" charset="0"/>
                </a:endParaRPr>
              </a:p>
            </p:txBody>
          </p:sp>
        </p:grpSp>
      </p:grpSp>
      <p:sp>
        <p:nvSpPr>
          <p:cNvPr id="30" name="TextBox 29"/>
          <p:cNvSpPr txBox="1"/>
          <p:nvPr/>
        </p:nvSpPr>
        <p:spPr>
          <a:xfrm>
            <a:off x="1691680" y="248116"/>
            <a:ext cx="5760640" cy="732612"/>
          </a:xfrm>
          <a:prstGeom prst="rect">
            <a:avLst/>
          </a:prstGeom>
          <a:noFill/>
        </p:spPr>
        <p:txBody>
          <a:bodyPr wrap="square" rtlCol="0">
            <a:noAutofit/>
          </a:bodyPr>
          <a:lstStyle/>
          <a:p>
            <a:pPr algn="ctr"/>
            <a:r>
              <a:rPr lang="en-US" sz="3200" dirty="0" smtClean="0">
                <a:latin typeface="Bahnschrift" pitchFamily="34" charset="0"/>
              </a:rPr>
              <a:t>Business-to-Business (B2B)</a:t>
            </a:r>
            <a:endParaRPr lang="en-US" sz="3200" dirty="0">
              <a:latin typeface="Bahnschrift" pitchFamily="34" charset="0"/>
            </a:endParaRPr>
          </a:p>
        </p:txBody>
      </p:sp>
      <p:sp>
        <p:nvSpPr>
          <p:cNvPr id="3" name="Rectangle 2"/>
          <p:cNvSpPr/>
          <p:nvPr/>
        </p:nvSpPr>
        <p:spPr>
          <a:xfrm>
            <a:off x="796679" y="836713"/>
            <a:ext cx="7550642" cy="2308324"/>
          </a:xfrm>
          <a:prstGeom prst="rect">
            <a:avLst/>
          </a:prstGeom>
        </p:spPr>
        <p:txBody>
          <a:bodyPr wrap="square">
            <a:spAutoFit/>
          </a:bodyPr>
          <a:lstStyle/>
          <a:p>
            <a:r>
              <a:rPr lang="en-US" sz="1900" b="1" dirty="0" smtClean="0">
                <a:latin typeface="Bahnschrift" pitchFamily="34" charset="0"/>
              </a:rPr>
              <a:t>What Is Business-to-Business (B2B)?</a:t>
            </a:r>
          </a:p>
          <a:p>
            <a:r>
              <a:rPr lang="en-US" dirty="0" smtClean="0">
                <a:latin typeface="Bahnschrift" pitchFamily="34" charset="0"/>
              </a:rPr>
              <a:t>Business-to-business (B2B), also called B-to-B, is a form of transaction between businesses, such as one involving a manufacturer and wholesaler, or a wholesaler and a retailer. Business-to-business refers to business that is conducted between companies, rather than between a company and individual consumer. Business-to-business stands in contrast to business-to-consumer (B2C) and business-to-government (B2G) transactions.</a:t>
            </a:r>
            <a:endParaRPr lang="en-IN" dirty="0">
              <a:latin typeface="Bahnschrift"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6678" y="3145037"/>
            <a:ext cx="7550643" cy="3551013"/>
          </a:xfrm>
          <a:prstGeom prst="rect">
            <a:avLst/>
          </a:prstGeom>
          <a:ln>
            <a:noFill/>
          </a:ln>
          <a:effectLst>
            <a:softEdge rad="112500"/>
          </a:effectLst>
        </p:spPr>
      </p:pic>
    </p:spTree>
    <p:extLst>
      <p:ext uri="{BB962C8B-B14F-4D97-AF65-F5344CB8AC3E}">
        <p14:creationId xmlns:p14="http://schemas.microsoft.com/office/powerpoint/2010/main" val="28407792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3.61111E-6 -1.96532E-6 L 1.00017 -1.96532E-6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30"/>
                                        </p:tgtEl>
                                        <p:attrNameLst>
                                          <p:attrName>style.visibility</p:attrName>
                                        </p:attrNameLst>
                                      </p:cBhvr>
                                      <p:to>
                                        <p:strVal val="visible"/>
                                      </p:to>
                                    </p:set>
                                    <p:anim calcmode="lin" valueType="num">
                                      <p:cBhvr>
                                        <p:cTn id="10"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30"/>
                                        </p:tgtEl>
                                        <p:attrNameLst>
                                          <p:attrName>ppt_y</p:attrName>
                                        </p:attrNameLst>
                                      </p:cBhvr>
                                      <p:tavLst>
                                        <p:tav tm="0">
                                          <p:val>
                                            <p:strVal val="#ppt_y"/>
                                          </p:val>
                                        </p:tav>
                                        <p:tav tm="100000">
                                          <p:val>
                                            <p:strVal val="#ppt_y"/>
                                          </p:val>
                                        </p:tav>
                                      </p:tavLst>
                                    </p:anim>
                                    <p:anim calcmode="lin" valueType="num">
                                      <p:cBhvr>
                                        <p:cTn id="12"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41" presetClass="entr" presetSubtype="0" fill="hold" grpId="0" nodeType="clickEffect">
                                  <p:stCondLst>
                                    <p:cond delay="0"/>
                                  </p:stCondLst>
                                  <p:iterate type="lt">
                                    <p:tmPct val="10000"/>
                                  </p:iterate>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
                                        </p:tgtEl>
                                        <p:attrNameLst>
                                          <p:attrName>ppt_y</p:attrName>
                                        </p:attrNameLst>
                                      </p:cBhvr>
                                      <p:tavLst>
                                        <p:tav tm="0">
                                          <p:val>
                                            <p:strVal val="#ppt_y"/>
                                          </p:val>
                                        </p:tav>
                                        <p:tav tm="100000">
                                          <p:val>
                                            <p:strVal val="#ppt_y"/>
                                          </p:val>
                                        </p:tav>
                                      </p:tavLst>
                                    </p:anim>
                                    <p:anim calcmode="lin" valueType="num">
                                      <p:cBhvr>
                                        <p:cTn id="21"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
                                        </p:tgtEl>
                                      </p:cBhvr>
                                    </p:animEffect>
                                  </p:childTnLst>
                                </p:cTn>
                              </p:par>
                              <p:par>
                                <p:cTn id="24" presetID="16" presetClass="entr" presetSubtype="21" fill="hold" nodeType="withEffect">
                                  <p:stCondLst>
                                    <p:cond delay="500"/>
                                  </p:stCondLst>
                                  <p:childTnLst>
                                    <p:set>
                                      <p:cBhvr>
                                        <p:cTn id="25" dur="1" fill="hold">
                                          <p:stCondLst>
                                            <p:cond delay="0"/>
                                          </p:stCondLst>
                                        </p:cTn>
                                        <p:tgtEl>
                                          <p:spTgt spid="5"/>
                                        </p:tgtEl>
                                        <p:attrNameLst>
                                          <p:attrName>style.visibility</p:attrName>
                                        </p:attrNameLst>
                                      </p:cBhvr>
                                      <p:to>
                                        <p:strVal val="visible"/>
                                      </p:to>
                                    </p:set>
                                    <p:animEffect transition="in" filter="barn(inVertical)">
                                      <p:cBhvr>
                                        <p:cTn id="26" dur="5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574" y="0"/>
            <a:ext cx="9161187" cy="6858000"/>
            <a:chOff x="-9144000" y="0"/>
            <a:chExt cx="9161187" cy="6858000"/>
          </a:xfrm>
        </p:grpSpPr>
        <p:sp>
          <p:nvSpPr>
            <p:cNvPr id="12" name="Rectangle 11"/>
            <p:cNvSpPr/>
            <p:nvPr/>
          </p:nvSpPr>
          <p:spPr>
            <a:xfrm>
              <a:off x="-914400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3" name="Group 12"/>
            <p:cNvGrpSpPr/>
            <p:nvPr/>
          </p:nvGrpSpPr>
          <p:grpSpPr>
            <a:xfrm>
              <a:off x="-522365" y="1736812"/>
              <a:ext cx="539552" cy="3384375"/>
              <a:chOff x="-522365" y="1736812"/>
              <a:chExt cx="539552" cy="3384375"/>
            </a:xfrm>
          </p:grpSpPr>
          <p:sp>
            <p:nvSpPr>
              <p:cNvPr id="14" name="Rounded Rectangle 13"/>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B2B</a:t>
                </a:r>
                <a:endParaRPr lang="en-IN" sz="2400" b="1" dirty="0">
                  <a:latin typeface="Bahnschrift Light" pitchFamily="34" charset="0"/>
                </a:endParaRPr>
              </a:p>
            </p:txBody>
          </p:sp>
        </p:grpSp>
      </p:grpSp>
      <p:grpSp>
        <p:nvGrpSpPr>
          <p:cNvPr id="11" name="Group 10"/>
          <p:cNvGrpSpPr/>
          <p:nvPr/>
        </p:nvGrpSpPr>
        <p:grpSpPr>
          <a:xfrm>
            <a:off x="-9154613" y="0"/>
            <a:ext cx="9161187" cy="6858000"/>
            <a:chOff x="-9144000" y="0"/>
            <a:chExt cx="9161187" cy="6858000"/>
          </a:xfrm>
          <a:solidFill>
            <a:schemeClr val="bg1">
              <a:lumMod val="95000"/>
            </a:schemeClr>
          </a:solidFill>
        </p:grpSpPr>
        <p:sp>
          <p:nvSpPr>
            <p:cNvPr id="4" name="Rectangle 3"/>
            <p:cNvSpPr/>
            <p:nvPr/>
          </p:nvSpPr>
          <p:spPr>
            <a:xfrm>
              <a:off x="-9144000" y="0"/>
              <a:ext cx="9144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a:grpFill/>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Disadvantage of B2B</a:t>
                </a:r>
                <a:endParaRPr lang="en-IN" sz="2400" b="1" dirty="0">
                  <a:latin typeface="Bahnschrift Light" pitchFamily="34" charset="0"/>
                </a:endParaRPr>
              </a:p>
            </p:txBody>
          </p:sp>
        </p:grpSp>
      </p:grpSp>
      <p:sp>
        <p:nvSpPr>
          <p:cNvPr id="30" name="TextBox 29"/>
          <p:cNvSpPr txBox="1"/>
          <p:nvPr/>
        </p:nvSpPr>
        <p:spPr>
          <a:xfrm>
            <a:off x="1691680" y="248116"/>
            <a:ext cx="5760640" cy="1020644"/>
          </a:xfrm>
          <a:prstGeom prst="rect">
            <a:avLst/>
          </a:prstGeom>
          <a:noFill/>
        </p:spPr>
        <p:txBody>
          <a:bodyPr wrap="square" rtlCol="0">
            <a:noAutofit/>
          </a:bodyPr>
          <a:lstStyle/>
          <a:p>
            <a:pPr algn="ctr"/>
            <a:r>
              <a:rPr lang="en-US" sz="3200" dirty="0" smtClean="0">
                <a:latin typeface="Bahnschrift" pitchFamily="34" charset="0"/>
              </a:rPr>
              <a:t>Disadvantages of Business-to-Business (B2B)</a:t>
            </a:r>
            <a:endParaRPr lang="en-US" sz="3200" dirty="0">
              <a:latin typeface="Bahnschrift" pitchFamily="34" charset="0"/>
            </a:endParaRPr>
          </a:p>
        </p:txBody>
      </p:sp>
      <p:sp>
        <p:nvSpPr>
          <p:cNvPr id="3" name="Rectangle 2"/>
          <p:cNvSpPr/>
          <p:nvPr/>
        </p:nvSpPr>
        <p:spPr>
          <a:xfrm>
            <a:off x="796679" y="1443841"/>
            <a:ext cx="7550642" cy="4016484"/>
          </a:xfrm>
          <a:prstGeom prst="rect">
            <a:avLst/>
          </a:prstGeom>
        </p:spPr>
        <p:txBody>
          <a:bodyPr wrap="square">
            <a:spAutoFit/>
          </a:bodyPr>
          <a:lstStyle/>
          <a:p>
            <a:r>
              <a:rPr lang="en-US" sz="1900" b="1" dirty="0" smtClean="0">
                <a:latin typeface="Bahnschrift" pitchFamily="34" charset="0"/>
              </a:rPr>
              <a:t>Limited Market</a:t>
            </a:r>
          </a:p>
          <a:p>
            <a:r>
              <a:rPr lang="en-US" dirty="0" smtClean="0">
                <a:latin typeface="Bahnschrift" pitchFamily="34" charset="0"/>
              </a:rPr>
              <a:t>Compared to the B2C model, this type of business has a limited market base as it deals with transactions between businesses. This makes it a bit of a risky venture for small and medium E-Commerce businesses.</a:t>
            </a:r>
          </a:p>
          <a:p>
            <a:endParaRPr lang="en-US" dirty="0" smtClean="0">
              <a:latin typeface="Bahnschrift" pitchFamily="34" charset="0"/>
            </a:endParaRPr>
          </a:p>
          <a:p>
            <a:r>
              <a:rPr lang="en-US" sz="1900" b="1" dirty="0" smtClean="0">
                <a:latin typeface="Bahnschrift" pitchFamily="34" charset="0"/>
              </a:rPr>
              <a:t>Lengthy Decision</a:t>
            </a:r>
          </a:p>
          <a:p>
            <a:r>
              <a:rPr lang="en-US" dirty="0" smtClean="0">
                <a:latin typeface="Bahnschrift" pitchFamily="34" charset="0"/>
              </a:rPr>
              <a:t>Here, the majority of the purchase decisions involve a lengthy process as there are two businesses involved. The process may involve dependence on multiple stakeholders and decision makers.</a:t>
            </a:r>
          </a:p>
          <a:p>
            <a:endParaRPr lang="en-US" dirty="0" smtClean="0">
              <a:latin typeface="Bahnschrift" pitchFamily="34" charset="0"/>
            </a:endParaRPr>
          </a:p>
          <a:p>
            <a:r>
              <a:rPr lang="en-US" sz="1900" b="1" dirty="0" smtClean="0">
                <a:latin typeface="Bahnschrift" pitchFamily="34" charset="0"/>
              </a:rPr>
              <a:t>Inverted Structure</a:t>
            </a:r>
          </a:p>
          <a:p>
            <a:r>
              <a:rPr lang="en-US" dirty="0" smtClean="0">
                <a:latin typeface="Bahnschrift" pitchFamily="34" charset="0"/>
              </a:rPr>
              <a:t>Compared to the other models, consumers have more decision making power than sellers in the B2B business model. They may demand customizations, impose specifications and try to lower price rates.</a:t>
            </a:r>
            <a:endParaRPr lang="en-IN" dirty="0">
              <a:latin typeface="Bahnschrift" pitchFamily="34" charset="0"/>
            </a:endParaRPr>
          </a:p>
        </p:txBody>
      </p:sp>
    </p:spTree>
    <p:extLst>
      <p:ext uri="{BB962C8B-B14F-4D97-AF65-F5344CB8AC3E}">
        <p14:creationId xmlns:p14="http://schemas.microsoft.com/office/powerpoint/2010/main" val="5291142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3.61111E-6 -1.96532E-6 L 1.00017 -1.96532E-6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30"/>
                                        </p:tgtEl>
                                        <p:attrNameLst>
                                          <p:attrName>style.visibility</p:attrName>
                                        </p:attrNameLst>
                                      </p:cBhvr>
                                      <p:to>
                                        <p:strVal val="visible"/>
                                      </p:to>
                                    </p:set>
                                    <p:anim calcmode="lin" valueType="num">
                                      <p:cBhvr>
                                        <p:cTn id="10"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30"/>
                                        </p:tgtEl>
                                        <p:attrNameLst>
                                          <p:attrName>ppt_y</p:attrName>
                                        </p:attrNameLst>
                                      </p:cBhvr>
                                      <p:tavLst>
                                        <p:tav tm="0">
                                          <p:val>
                                            <p:strVal val="#ppt_y"/>
                                          </p:val>
                                        </p:tav>
                                        <p:tav tm="100000">
                                          <p:val>
                                            <p:strVal val="#ppt_y"/>
                                          </p:val>
                                        </p:tav>
                                      </p:tavLst>
                                    </p:anim>
                                    <p:anim calcmode="lin" valueType="num">
                                      <p:cBhvr>
                                        <p:cTn id="12"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30"/>
                                        </p:tgtEl>
                                      </p:cBhvr>
                                    </p:animEffect>
                                  </p:childTnLst>
                                </p:cTn>
                              </p:par>
                            </p:childTnLst>
                          </p:cTn>
                        </p:par>
                        <p:par>
                          <p:cTn id="15" fill="hold">
                            <p:stCondLst>
                              <p:cond delay="445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3"/>
                                        </p:tgtEl>
                                        <p:attrNameLst>
                                          <p:attrName>ppt_y</p:attrName>
                                        </p:attrNameLst>
                                      </p:cBhvr>
                                      <p:tavLst>
                                        <p:tav tm="0">
                                          <p:val>
                                            <p:strVal val="#ppt_y"/>
                                          </p:val>
                                        </p:tav>
                                        <p:tav tm="100000">
                                          <p:val>
                                            <p:strVal val="#ppt_y"/>
                                          </p:val>
                                        </p:tav>
                                      </p:tavLst>
                                    </p:anim>
                                    <p:anim calcmode="lin" valueType="num">
                                      <p:cBhvr>
                                        <p:cTn id="20"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574" y="0"/>
            <a:ext cx="9161187" cy="6858000"/>
            <a:chOff x="-9144000" y="0"/>
            <a:chExt cx="9161187" cy="6858000"/>
          </a:xfrm>
        </p:grpSpPr>
        <p:sp>
          <p:nvSpPr>
            <p:cNvPr id="12" name="Rectangle 11"/>
            <p:cNvSpPr/>
            <p:nvPr/>
          </p:nvSpPr>
          <p:spPr>
            <a:xfrm>
              <a:off x="-914400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3" name="Group 12"/>
            <p:cNvGrpSpPr/>
            <p:nvPr/>
          </p:nvGrpSpPr>
          <p:grpSpPr>
            <a:xfrm>
              <a:off x="-522365" y="1736812"/>
              <a:ext cx="539552" cy="3384375"/>
              <a:chOff x="-522365" y="1736812"/>
              <a:chExt cx="539552" cy="3384375"/>
            </a:xfrm>
          </p:grpSpPr>
          <p:sp>
            <p:nvSpPr>
              <p:cNvPr id="14" name="Rounded Rectangle 13"/>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Disadvantage of B2B</a:t>
                </a:r>
                <a:endParaRPr lang="en-IN" sz="2400" b="1" dirty="0">
                  <a:latin typeface="Bahnschrift Light" pitchFamily="34" charset="0"/>
                </a:endParaRPr>
              </a:p>
            </p:txBody>
          </p:sp>
        </p:grpSp>
      </p:grpSp>
      <p:grpSp>
        <p:nvGrpSpPr>
          <p:cNvPr id="11" name="Group 10"/>
          <p:cNvGrpSpPr/>
          <p:nvPr/>
        </p:nvGrpSpPr>
        <p:grpSpPr>
          <a:xfrm>
            <a:off x="-9154613" y="0"/>
            <a:ext cx="9161187" cy="6858000"/>
            <a:chOff x="-9144000" y="0"/>
            <a:chExt cx="9161187" cy="6858000"/>
          </a:xfrm>
          <a:solidFill>
            <a:schemeClr val="bg1">
              <a:lumMod val="95000"/>
            </a:schemeClr>
          </a:solidFill>
        </p:grpSpPr>
        <p:sp>
          <p:nvSpPr>
            <p:cNvPr id="4" name="Rectangle 3"/>
            <p:cNvSpPr/>
            <p:nvPr/>
          </p:nvSpPr>
          <p:spPr>
            <a:xfrm>
              <a:off x="-9144000" y="0"/>
              <a:ext cx="9144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a:grpFill/>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Advantages of B2B</a:t>
                </a:r>
                <a:endParaRPr lang="en-IN" sz="2400" b="1" dirty="0">
                  <a:latin typeface="Bahnschrift Light" pitchFamily="34" charset="0"/>
                </a:endParaRPr>
              </a:p>
            </p:txBody>
          </p:sp>
        </p:grpSp>
      </p:grpSp>
      <p:sp>
        <p:nvSpPr>
          <p:cNvPr id="30" name="TextBox 29"/>
          <p:cNvSpPr txBox="1"/>
          <p:nvPr/>
        </p:nvSpPr>
        <p:spPr>
          <a:xfrm>
            <a:off x="1691680" y="248116"/>
            <a:ext cx="5760640" cy="1020644"/>
          </a:xfrm>
          <a:prstGeom prst="rect">
            <a:avLst/>
          </a:prstGeom>
          <a:noFill/>
        </p:spPr>
        <p:txBody>
          <a:bodyPr wrap="square" rtlCol="0">
            <a:noAutofit/>
          </a:bodyPr>
          <a:lstStyle/>
          <a:p>
            <a:pPr algn="ctr"/>
            <a:r>
              <a:rPr lang="en-US" sz="3200" dirty="0" smtClean="0">
                <a:latin typeface="Bahnschrift" pitchFamily="34" charset="0"/>
              </a:rPr>
              <a:t>Advantages of Business-to-Business (B2B)</a:t>
            </a:r>
            <a:endParaRPr lang="en-US" sz="3200" dirty="0">
              <a:latin typeface="Bahnschrift" pitchFamily="34" charset="0"/>
            </a:endParaRPr>
          </a:p>
        </p:txBody>
      </p:sp>
      <p:sp>
        <p:nvSpPr>
          <p:cNvPr id="3" name="Rectangle 2"/>
          <p:cNvSpPr/>
          <p:nvPr/>
        </p:nvSpPr>
        <p:spPr>
          <a:xfrm>
            <a:off x="323528" y="1228419"/>
            <a:ext cx="8136904" cy="5632311"/>
          </a:xfrm>
          <a:prstGeom prst="rect">
            <a:avLst/>
          </a:prstGeom>
        </p:spPr>
        <p:txBody>
          <a:bodyPr wrap="square">
            <a:spAutoFit/>
          </a:bodyPr>
          <a:lstStyle/>
          <a:p>
            <a:r>
              <a:rPr lang="en-US" sz="1900" b="1" dirty="0" smtClean="0">
                <a:latin typeface="Bahnschrift" pitchFamily="34" charset="0"/>
              </a:rPr>
              <a:t>Market Predictability</a:t>
            </a:r>
          </a:p>
          <a:p>
            <a:r>
              <a:rPr lang="en-US" dirty="0" smtClean="0">
                <a:latin typeface="Bahnschrift" pitchFamily="34" charset="0"/>
              </a:rPr>
              <a:t>Compared to the other business strategies, the B2B E-Commerce business model has more market stability. B2B sectors grow gradually and can adapt to various complex market conditions. This helps to strengthen the online presence and business opportunities and get more potential clients and resellers.</a:t>
            </a:r>
          </a:p>
          <a:p>
            <a:endParaRPr lang="en-US" dirty="0" smtClean="0">
              <a:latin typeface="Bahnschrift" pitchFamily="34" charset="0"/>
            </a:endParaRPr>
          </a:p>
          <a:p>
            <a:r>
              <a:rPr lang="en-US" sz="1900" b="1" dirty="0" smtClean="0">
                <a:latin typeface="Bahnschrift" pitchFamily="34" charset="0"/>
              </a:rPr>
              <a:t>Better Sales</a:t>
            </a:r>
          </a:p>
          <a:p>
            <a:r>
              <a:rPr lang="en-US" dirty="0" smtClean="0">
                <a:latin typeface="Bahnschrift" pitchFamily="34" charset="0"/>
              </a:rPr>
              <a:t>An improved supply chain management process along with a collaborative approach increase customer loyalty in the B2B E-Commerce business model. This, in turn, leads to improved sales. It helps businesses to showcase product recommendations and unlock effective upselling and cross-selling opportunities.</a:t>
            </a:r>
          </a:p>
          <a:p>
            <a:endParaRPr lang="en-US" dirty="0" smtClean="0">
              <a:latin typeface="Bahnschrift" pitchFamily="34" charset="0"/>
            </a:endParaRPr>
          </a:p>
          <a:p>
            <a:r>
              <a:rPr lang="en-US" sz="1900" b="1" dirty="0" smtClean="0">
                <a:latin typeface="Bahnschrift" pitchFamily="34" charset="0"/>
              </a:rPr>
              <a:t>Lower Costs</a:t>
            </a:r>
          </a:p>
          <a:p>
            <a:r>
              <a:rPr lang="en-US" dirty="0" smtClean="0">
                <a:latin typeface="Bahnschrift" pitchFamily="34" charset="0"/>
              </a:rPr>
              <a:t>Due to an effective supply chain management process, this online business model leads to lower costs for businesses. In most cases, the work is done through automation that eradicates the chances of errors and undue expenditure.</a:t>
            </a:r>
          </a:p>
          <a:p>
            <a:endParaRPr lang="en-US" dirty="0" smtClean="0">
              <a:latin typeface="Bahnschrift" pitchFamily="34" charset="0"/>
            </a:endParaRPr>
          </a:p>
        </p:txBody>
      </p:sp>
    </p:spTree>
    <p:extLst>
      <p:ext uri="{BB962C8B-B14F-4D97-AF65-F5344CB8AC3E}">
        <p14:creationId xmlns:p14="http://schemas.microsoft.com/office/powerpoint/2010/main" val="22459800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3.61111E-6 -1.96532E-6 L 1.00017 -1.96532E-6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30"/>
                                        </p:tgtEl>
                                        <p:attrNameLst>
                                          <p:attrName>style.visibility</p:attrName>
                                        </p:attrNameLst>
                                      </p:cBhvr>
                                      <p:to>
                                        <p:strVal val="visible"/>
                                      </p:to>
                                    </p:set>
                                    <p:anim calcmode="lin" valueType="num">
                                      <p:cBhvr>
                                        <p:cTn id="10"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30"/>
                                        </p:tgtEl>
                                        <p:attrNameLst>
                                          <p:attrName>ppt_y</p:attrName>
                                        </p:attrNameLst>
                                      </p:cBhvr>
                                      <p:tavLst>
                                        <p:tav tm="0">
                                          <p:val>
                                            <p:strVal val="#ppt_y"/>
                                          </p:val>
                                        </p:tav>
                                        <p:tav tm="100000">
                                          <p:val>
                                            <p:strVal val="#ppt_y"/>
                                          </p:val>
                                        </p:tav>
                                      </p:tavLst>
                                    </p:anim>
                                    <p:anim calcmode="lin" valueType="num">
                                      <p:cBhvr>
                                        <p:cTn id="12"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30"/>
                                        </p:tgtEl>
                                      </p:cBhvr>
                                    </p:animEffect>
                                  </p:childTnLst>
                                </p:cTn>
                              </p:par>
                            </p:childTnLst>
                          </p:cTn>
                        </p:par>
                        <p:par>
                          <p:cTn id="15" fill="hold">
                            <p:stCondLst>
                              <p:cond delay="43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3"/>
                                        </p:tgtEl>
                                        <p:attrNameLst>
                                          <p:attrName>ppt_y</p:attrName>
                                        </p:attrNameLst>
                                      </p:cBhvr>
                                      <p:tavLst>
                                        <p:tav tm="0">
                                          <p:val>
                                            <p:strVal val="#ppt_y"/>
                                          </p:val>
                                        </p:tav>
                                        <p:tav tm="100000">
                                          <p:val>
                                            <p:strVal val="#ppt_y"/>
                                          </p:val>
                                        </p:tav>
                                      </p:tavLst>
                                    </p:anim>
                                    <p:anim calcmode="lin" valueType="num">
                                      <p:cBhvr>
                                        <p:cTn id="20"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574" y="0"/>
            <a:ext cx="9161187" cy="6858000"/>
            <a:chOff x="-9144000" y="0"/>
            <a:chExt cx="9161187" cy="6858000"/>
          </a:xfrm>
        </p:grpSpPr>
        <p:sp>
          <p:nvSpPr>
            <p:cNvPr id="12" name="Rectangle 11"/>
            <p:cNvSpPr/>
            <p:nvPr/>
          </p:nvSpPr>
          <p:spPr>
            <a:xfrm>
              <a:off x="-914400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3" name="Group 12"/>
            <p:cNvGrpSpPr/>
            <p:nvPr/>
          </p:nvGrpSpPr>
          <p:grpSpPr>
            <a:xfrm>
              <a:off x="-522365" y="1736812"/>
              <a:ext cx="539552" cy="3384375"/>
              <a:chOff x="-522365" y="1736812"/>
              <a:chExt cx="539552" cy="3384375"/>
            </a:xfrm>
          </p:grpSpPr>
          <p:sp>
            <p:nvSpPr>
              <p:cNvPr id="14" name="Rounded Rectangle 13"/>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Advantages of B2B</a:t>
                </a:r>
                <a:endParaRPr lang="en-IN" sz="2400" b="1" dirty="0">
                  <a:latin typeface="Bahnschrift Light" pitchFamily="34" charset="0"/>
                </a:endParaRPr>
              </a:p>
            </p:txBody>
          </p:sp>
        </p:grpSp>
      </p:grpSp>
      <p:grpSp>
        <p:nvGrpSpPr>
          <p:cNvPr id="11" name="Group 10"/>
          <p:cNvGrpSpPr/>
          <p:nvPr/>
        </p:nvGrpSpPr>
        <p:grpSpPr>
          <a:xfrm>
            <a:off x="-9154613" y="0"/>
            <a:ext cx="9161187" cy="6858000"/>
            <a:chOff x="-9144000" y="0"/>
            <a:chExt cx="9161187" cy="6858000"/>
          </a:xfrm>
          <a:solidFill>
            <a:schemeClr val="bg1">
              <a:lumMod val="95000"/>
            </a:schemeClr>
          </a:solidFill>
        </p:grpSpPr>
        <p:sp>
          <p:nvSpPr>
            <p:cNvPr id="4" name="Rectangle 3"/>
            <p:cNvSpPr/>
            <p:nvPr/>
          </p:nvSpPr>
          <p:spPr>
            <a:xfrm>
              <a:off x="-9144000" y="0"/>
              <a:ext cx="9144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a:grpFill/>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B2C</a:t>
                </a:r>
                <a:endParaRPr lang="en-IN" sz="2400" b="1" dirty="0">
                  <a:latin typeface="Bahnschrift Light" pitchFamily="34" charset="0"/>
                </a:endParaRPr>
              </a:p>
            </p:txBody>
          </p:sp>
        </p:grpSp>
      </p:grpSp>
      <p:sp>
        <p:nvSpPr>
          <p:cNvPr id="30" name="TextBox 29"/>
          <p:cNvSpPr txBox="1"/>
          <p:nvPr/>
        </p:nvSpPr>
        <p:spPr>
          <a:xfrm>
            <a:off x="1691680" y="248116"/>
            <a:ext cx="5760640" cy="732612"/>
          </a:xfrm>
          <a:prstGeom prst="rect">
            <a:avLst/>
          </a:prstGeom>
          <a:noFill/>
        </p:spPr>
        <p:txBody>
          <a:bodyPr wrap="square" rtlCol="0">
            <a:noAutofit/>
          </a:bodyPr>
          <a:lstStyle/>
          <a:p>
            <a:pPr algn="ctr"/>
            <a:r>
              <a:rPr lang="en-US" sz="3200" dirty="0" smtClean="0">
                <a:latin typeface="Bahnschrift" pitchFamily="34" charset="0"/>
              </a:rPr>
              <a:t>Business-to-Customer (B2C)</a:t>
            </a:r>
            <a:endParaRPr lang="en-US" sz="3200" dirty="0">
              <a:latin typeface="Bahnschrift" pitchFamily="34" charset="0"/>
            </a:endParaRPr>
          </a:p>
        </p:txBody>
      </p:sp>
      <p:sp>
        <p:nvSpPr>
          <p:cNvPr id="3" name="Rectangle 2"/>
          <p:cNvSpPr/>
          <p:nvPr/>
        </p:nvSpPr>
        <p:spPr>
          <a:xfrm>
            <a:off x="796679" y="836713"/>
            <a:ext cx="7550642" cy="1492716"/>
          </a:xfrm>
          <a:prstGeom prst="rect">
            <a:avLst/>
          </a:prstGeom>
        </p:spPr>
        <p:txBody>
          <a:bodyPr wrap="square">
            <a:spAutoFit/>
          </a:bodyPr>
          <a:lstStyle/>
          <a:p>
            <a:r>
              <a:rPr lang="en-US" sz="1900" b="1" dirty="0" smtClean="0">
                <a:latin typeface="Bahnschrift" pitchFamily="34" charset="0"/>
              </a:rPr>
              <a:t>What Is Business-to-Consumer (B2C)?</a:t>
            </a:r>
          </a:p>
          <a:p>
            <a:r>
              <a:rPr lang="en-US" dirty="0" smtClean="0">
                <a:latin typeface="Bahnschrift" pitchFamily="34" charset="0"/>
              </a:rPr>
              <a:t>The term business-to-consumer (B2C) refers to the process of selling products and services directly between a business and consumers who are the end-users of its products or services. Most companies that sell directly to consumers can be referred to as B2C companies.</a:t>
            </a:r>
            <a:endParaRPr lang="en-IN" dirty="0">
              <a:latin typeface="Bahnschrift" pitchFamily="34" charset="0"/>
            </a:endParaRP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1962" t="17354" r="3536" b="22751"/>
          <a:stretch/>
        </p:blipFill>
        <p:spPr>
          <a:xfrm>
            <a:off x="683568" y="2562898"/>
            <a:ext cx="7663753" cy="4107543"/>
          </a:xfrm>
          <a:prstGeom prst="rect">
            <a:avLst/>
          </a:prstGeom>
          <a:ln>
            <a:noFill/>
          </a:ln>
          <a:effectLst>
            <a:softEdge rad="112500"/>
          </a:effectLst>
        </p:spPr>
      </p:pic>
    </p:spTree>
    <p:extLst>
      <p:ext uri="{BB962C8B-B14F-4D97-AF65-F5344CB8AC3E}">
        <p14:creationId xmlns:p14="http://schemas.microsoft.com/office/powerpoint/2010/main" val="15164542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3.61111E-6 -1.96532E-6 L 1.00017 -1.96532E-6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30"/>
                                        </p:tgtEl>
                                        <p:attrNameLst>
                                          <p:attrName>style.visibility</p:attrName>
                                        </p:attrNameLst>
                                      </p:cBhvr>
                                      <p:to>
                                        <p:strVal val="visible"/>
                                      </p:to>
                                    </p:set>
                                    <p:anim calcmode="lin" valueType="num">
                                      <p:cBhvr>
                                        <p:cTn id="10"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30"/>
                                        </p:tgtEl>
                                        <p:attrNameLst>
                                          <p:attrName>ppt_y</p:attrName>
                                        </p:attrNameLst>
                                      </p:cBhvr>
                                      <p:tavLst>
                                        <p:tav tm="0">
                                          <p:val>
                                            <p:strVal val="#ppt_y"/>
                                          </p:val>
                                        </p:tav>
                                        <p:tav tm="100000">
                                          <p:val>
                                            <p:strVal val="#ppt_y"/>
                                          </p:val>
                                        </p:tav>
                                      </p:tavLst>
                                    </p:anim>
                                    <p:anim calcmode="lin" valueType="num">
                                      <p:cBhvr>
                                        <p:cTn id="12"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41" presetClass="entr" presetSubtype="0" fill="hold" grpId="0" nodeType="clickEffect">
                                  <p:stCondLst>
                                    <p:cond delay="0"/>
                                  </p:stCondLst>
                                  <p:iterate type="lt">
                                    <p:tmPct val="10000"/>
                                  </p:iterate>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
                                        </p:tgtEl>
                                        <p:attrNameLst>
                                          <p:attrName>ppt_y</p:attrName>
                                        </p:attrNameLst>
                                      </p:cBhvr>
                                      <p:tavLst>
                                        <p:tav tm="0">
                                          <p:val>
                                            <p:strVal val="#ppt_y"/>
                                          </p:val>
                                        </p:tav>
                                        <p:tav tm="100000">
                                          <p:val>
                                            <p:strVal val="#ppt_y"/>
                                          </p:val>
                                        </p:tav>
                                      </p:tavLst>
                                    </p:anim>
                                    <p:anim calcmode="lin" valueType="num">
                                      <p:cBhvr>
                                        <p:cTn id="21"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
                                        </p:tgtEl>
                                      </p:cBhvr>
                                    </p:animEffect>
                                  </p:childTnLst>
                                </p:cTn>
                              </p:par>
                              <p:par>
                                <p:cTn id="24" presetID="16" presetClass="entr" presetSubtype="21" fill="hold" nodeType="withEffect">
                                  <p:stCondLst>
                                    <p:cond delay="500"/>
                                  </p:stCondLst>
                                  <p:childTnLst>
                                    <p:set>
                                      <p:cBhvr>
                                        <p:cTn id="25" dur="1" fill="hold">
                                          <p:stCondLst>
                                            <p:cond delay="0"/>
                                          </p:stCondLst>
                                        </p:cTn>
                                        <p:tgtEl>
                                          <p:spTgt spid="2"/>
                                        </p:tgtEl>
                                        <p:attrNameLst>
                                          <p:attrName>style.visibility</p:attrName>
                                        </p:attrNameLst>
                                      </p:cBhvr>
                                      <p:to>
                                        <p:strVal val="visible"/>
                                      </p:to>
                                    </p:set>
                                    <p:animEffect transition="in" filter="barn(inVertical)">
                                      <p:cBhvr>
                                        <p:cTn id="26" dur="5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574" y="0"/>
            <a:ext cx="9161187" cy="6858000"/>
            <a:chOff x="-9144000" y="0"/>
            <a:chExt cx="9161187" cy="6858000"/>
          </a:xfrm>
        </p:grpSpPr>
        <p:sp>
          <p:nvSpPr>
            <p:cNvPr id="12" name="Rectangle 11"/>
            <p:cNvSpPr/>
            <p:nvPr/>
          </p:nvSpPr>
          <p:spPr>
            <a:xfrm>
              <a:off x="-914400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3" name="Group 12"/>
            <p:cNvGrpSpPr/>
            <p:nvPr/>
          </p:nvGrpSpPr>
          <p:grpSpPr>
            <a:xfrm>
              <a:off x="-522365" y="1736812"/>
              <a:ext cx="539552" cy="3384375"/>
              <a:chOff x="-522365" y="1736812"/>
              <a:chExt cx="539552" cy="3384375"/>
            </a:xfrm>
          </p:grpSpPr>
          <p:sp>
            <p:nvSpPr>
              <p:cNvPr id="14" name="Rounded Rectangle 13"/>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B2C</a:t>
                </a:r>
                <a:endParaRPr lang="en-IN" sz="2400" b="1" dirty="0">
                  <a:latin typeface="Bahnschrift Light" pitchFamily="34" charset="0"/>
                </a:endParaRPr>
              </a:p>
            </p:txBody>
          </p:sp>
        </p:grpSp>
      </p:grpSp>
      <p:grpSp>
        <p:nvGrpSpPr>
          <p:cNvPr id="11" name="Group 10"/>
          <p:cNvGrpSpPr/>
          <p:nvPr/>
        </p:nvGrpSpPr>
        <p:grpSpPr>
          <a:xfrm>
            <a:off x="-9154613" y="0"/>
            <a:ext cx="9161187" cy="6858000"/>
            <a:chOff x="-9144000" y="0"/>
            <a:chExt cx="9161187" cy="6858000"/>
          </a:xfrm>
          <a:solidFill>
            <a:schemeClr val="bg1">
              <a:lumMod val="95000"/>
            </a:schemeClr>
          </a:solidFill>
        </p:grpSpPr>
        <p:sp>
          <p:nvSpPr>
            <p:cNvPr id="4" name="Rectangle 3"/>
            <p:cNvSpPr/>
            <p:nvPr/>
          </p:nvSpPr>
          <p:spPr>
            <a:xfrm>
              <a:off x="-9144000" y="0"/>
              <a:ext cx="9144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a:grpFill/>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Advantages of B2C</a:t>
                </a:r>
                <a:endParaRPr lang="en-IN" sz="2400" b="1" dirty="0">
                  <a:latin typeface="Bahnschrift Light" pitchFamily="34" charset="0"/>
                </a:endParaRPr>
              </a:p>
            </p:txBody>
          </p:sp>
        </p:grpSp>
      </p:grpSp>
      <p:sp>
        <p:nvSpPr>
          <p:cNvPr id="30" name="TextBox 29"/>
          <p:cNvSpPr txBox="1"/>
          <p:nvPr/>
        </p:nvSpPr>
        <p:spPr>
          <a:xfrm>
            <a:off x="1691680" y="248116"/>
            <a:ext cx="5760640" cy="1020644"/>
          </a:xfrm>
          <a:prstGeom prst="rect">
            <a:avLst/>
          </a:prstGeom>
          <a:noFill/>
        </p:spPr>
        <p:txBody>
          <a:bodyPr wrap="square" rtlCol="0">
            <a:noAutofit/>
          </a:bodyPr>
          <a:lstStyle/>
          <a:p>
            <a:pPr algn="ctr"/>
            <a:r>
              <a:rPr lang="en-US" sz="3200" dirty="0" smtClean="0">
                <a:latin typeface="Bahnschrift" pitchFamily="34" charset="0"/>
              </a:rPr>
              <a:t>Advantages of Business-to-Customer (B2C)</a:t>
            </a:r>
            <a:endParaRPr lang="en-US" sz="3200" dirty="0">
              <a:latin typeface="Bahnschrift" pitchFamily="34" charset="0"/>
            </a:endParaRPr>
          </a:p>
        </p:txBody>
      </p:sp>
      <p:sp>
        <p:nvSpPr>
          <p:cNvPr id="3" name="Rectangle 2"/>
          <p:cNvSpPr/>
          <p:nvPr/>
        </p:nvSpPr>
        <p:spPr>
          <a:xfrm>
            <a:off x="796679" y="2274838"/>
            <a:ext cx="7550642" cy="2308324"/>
          </a:xfrm>
          <a:prstGeom prst="rect">
            <a:avLst/>
          </a:prstGeom>
        </p:spPr>
        <p:txBody>
          <a:bodyPr wrap="square">
            <a:spAutoFit/>
          </a:bodyPr>
          <a:lstStyle/>
          <a:p>
            <a:pPr marL="285750" indent="-285750">
              <a:buFont typeface="Arial" pitchFamily="34" charset="0"/>
              <a:buChar char="•"/>
            </a:pPr>
            <a:r>
              <a:rPr lang="en-US" dirty="0" smtClean="0">
                <a:latin typeface="Bahnschrift" pitchFamily="34" charset="0"/>
              </a:rPr>
              <a:t>You can reach a huge audience worldwide.</a:t>
            </a:r>
          </a:p>
          <a:p>
            <a:pPr marL="285750" indent="-285750">
              <a:buFont typeface="Arial" pitchFamily="34" charset="0"/>
              <a:buChar char="•"/>
            </a:pPr>
            <a:endParaRPr lang="en-US" dirty="0" smtClean="0">
              <a:latin typeface="Bahnschrift" pitchFamily="34" charset="0"/>
            </a:endParaRPr>
          </a:p>
          <a:p>
            <a:pPr marL="285750" indent="-285750">
              <a:buFont typeface="Arial" pitchFamily="34" charset="0"/>
              <a:buChar char="•"/>
            </a:pPr>
            <a:r>
              <a:rPr lang="en-US" dirty="0" smtClean="0">
                <a:latin typeface="Bahnschrift" pitchFamily="34" charset="0"/>
              </a:rPr>
              <a:t>It is easy to convert visitors into customers.</a:t>
            </a:r>
          </a:p>
          <a:p>
            <a:pPr marL="285750" indent="-285750">
              <a:buFont typeface="Arial" pitchFamily="34" charset="0"/>
              <a:buChar char="•"/>
            </a:pPr>
            <a:endParaRPr lang="en-US" dirty="0" smtClean="0">
              <a:latin typeface="Bahnschrift" pitchFamily="34" charset="0"/>
            </a:endParaRPr>
          </a:p>
          <a:p>
            <a:pPr marL="285750" indent="-285750">
              <a:buFont typeface="Arial" pitchFamily="34" charset="0"/>
              <a:buChar char="•"/>
            </a:pPr>
            <a:r>
              <a:rPr lang="en-US" dirty="0" smtClean="0">
                <a:latin typeface="Bahnschrift" pitchFamily="34" charset="0"/>
              </a:rPr>
              <a:t>You can readily set up the online store using top E-Commerce </a:t>
            </a:r>
          </a:p>
          <a:p>
            <a:pPr marL="285750" indent="-285750">
              <a:buFont typeface="Arial" pitchFamily="34" charset="0"/>
              <a:buChar char="•"/>
            </a:pPr>
            <a:r>
              <a:rPr lang="en-US" dirty="0" smtClean="0">
                <a:latin typeface="Bahnschrift" pitchFamily="34" charset="0"/>
              </a:rPr>
              <a:t>platforms like Shopify and Magento.</a:t>
            </a:r>
          </a:p>
          <a:p>
            <a:pPr marL="285750" indent="-285750">
              <a:buFont typeface="Arial" pitchFamily="34" charset="0"/>
              <a:buChar char="•"/>
            </a:pPr>
            <a:endParaRPr lang="en-US" dirty="0" smtClean="0">
              <a:latin typeface="Bahnschrift" pitchFamily="34" charset="0"/>
            </a:endParaRPr>
          </a:p>
          <a:p>
            <a:pPr marL="285750" indent="-285750">
              <a:buFont typeface="Arial" pitchFamily="34" charset="0"/>
              <a:buChar char="•"/>
            </a:pPr>
            <a:r>
              <a:rPr lang="en-US" dirty="0" smtClean="0">
                <a:latin typeface="Bahnschrift" pitchFamily="34" charset="0"/>
              </a:rPr>
              <a:t>Small and mid-size businesses can grow quickly through this model.</a:t>
            </a:r>
            <a:endParaRPr lang="en-IN" dirty="0">
              <a:latin typeface="Bahnschrift" pitchFamily="34" charset="0"/>
            </a:endParaRPr>
          </a:p>
        </p:txBody>
      </p:sp>
    </p:spTree>
    <p:extLst>
      <p:ext uri="{BB962C8B-B14F-4D97-AF65-F5344CB8AC3E}">
        <p14:creationId xmlns:p14="http://schemas.microsoft.com/office/powerpoint/2010/main" val="38675921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3.61111E-6 -1.96532E-6 L 1.00017 -1.96532E-6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30"/>
                                        </p:tgtEl>
                                        <p:attrNameLst>
                                          <p:attrName>style.visibility</p:attrName>
                                        </p:attrNameLst>
                                      </p:cBhvr>
                                      <p:to>
                                        <p:strVal val="visible"/>
                                      </p:to>
                                    </p:set>
                                    <p:anim calcmode="lin" valueType="num">
                                      <p:cBhvr>
                                        <p:cTn id="10"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30"/>
                                        </p:tgtEl>
                                        <p:attrNameLst>
                                          <p:attrName>ppt_y</p:attrName>
                                        </p:attrNameLst>
                                      </p:cBhvr>
                                      <p:tavLst>
                                        <p:tav tm="0">
                                          <p:val>
                                            <p:strVal val="#ppt_y"/>
                                          </p:val>
                                        </p:tav>
                                        <p:tav tm="100000">
                                          <p:val>
                                            <p:strVal val="#ppt_y"/>
                                          </p:val>
                                        </p:tav>
                                      </p:tavLst>
                                    </p:anim>
                                    <p:anim calcmode="lin" valueType="num">
                                      <p:cBhvr>
                                        <p:cTn id="12"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41" presetClass="entr" presetSubtype="0" fill="hold" grpId="0" nodeType="clickEffect">
                                  <p:stCondLst>
                                    <p:cond delay="0"/>
                                  </p:stCondLst>
                                  <p:iterate type="lt">
                                    <p:tmPct val="10000"/>
                                  </p:iterate>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
                                        </p:tgtEl>
                                        <p:attrNameLst>
                                          <p:attrName>ppt_y</p:attrName>
                                        </p:attrNameLst>
                                      </p:cBhvr>
                                      <p:tavLst>
                                        <p:tav tm="0">
                                          <p:val>
                                            <p:strVal val="#ppt_y"/>
                                          </p:val>
                                        </p:tav>
                                        <p:tav tm="100000">
                                          <p:val>
                                            <p:strVal val="#ppt_y"/>
                                          </p:val>
                                        </p:tav>
                                      </p:tavLst>
                                    </p:anim>
                                    <p:anim calcmode="lin" valueType="num">
                                      <p:cBhvr>
                                        <p:cTn id="21"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574" y="0"/>
            <a:ext cx="9161187" cy="6858000"/>
            <a:chOff x="-9144000" y="0"/>
            <a:chExt cx="9161187" cy="6858000"/>
          </a:xfrm>
        </p:grpSpPr>
        <p:sp>
          <p:nvSpPr>
            <p:cNvPr id="12" name="Rectangle 11"/>
            <p:cNvSpPr/>
            <p:nvPr/>
          </p:nvSpPr>
          <p:spPr>
            <a:xfrm>
              <a:off x="-914400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3" name="Group 12"/>
            <p:cNvGrpSpPr/>
            <p:nvPr/>
          </p:nvGrpSpPr>
          <p:grpSpPr>
            <a:xfrm>
              <a:off x="-522365" y="1736812"/>
              <a:ext cx="539552" cy="3384375"/>
              <a:chOff x="-522365" y="1736812"/>
              <a:chExt cx="539552" cy="3384375"/>
            </a:xfrm>
          </p:grpSpPr>
          <p:sp>
            <p:nvSpPr>
              <p:cNvPr id="14" name="Rounded Rectangle 13"/>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Advantages of B2C</a:t>
                </a:r>
                <a:endParaRPr lang="en-IN" sz="2400" b="1" dirty="0">
                  <a:latin typeface="Bahnschrift Light" pitchFamily="34" charset="0"/>
                </a:endParaRPr>
              </a:p>
            </p:txBody>
          </p:sp>
        </p:grpSp>
      </p:grpSp>
      <p:grpSp>
        <p:nvGrpSpPr>
          <p:cNvPr id="11" name="Group 10"/>
          <p:cNvGrpSpPr/>
          <p:nvPr/>
        </p:nvGrpSpPr>
        <p:grpSpPr>
          <a:xfrm>
            <a:off x="-9154613" y="0"/>
            <a:ext cx="9161187" cy="6858000"/>
            <a:chOff x="-9144000" y="0"/>
            <a:chExt cx="9161187" cy="6858000"/>
          </a:xfrm>
          <a:solidFill>
            <a:schemeClr val="bg1">
              <a:lumMod val="95000"/>
            </a:schemeClr>
          </a:solidFill>
        </p:grpSpPr>
        <p:sp>
          <p:nvSpPr>
            <p:cNvPr id="4" name="Rectangle 3"/>
            <p:cNvSpPr/>
            <p:nvPr/>
          </p:nvSpPr>
          <p:spPr>
            <a:xfrm>
              <a:off x="-9144000" y="0"/>
              <a:ext cx="9144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a:grpFill/>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Disadvantage of B2C</a:t>
                </a:r>
                <a:endParaRPr lang="en-IN" sz="2400" b="1" dirty="0">
                  <a:latin typeface="Bahnschrift Light" pitchFamily="34" charset="0"/>
                </a:endParaRPr>
              </a:p>
            </p:txBody>
          </p:sp>
        </p:grpSp>
      </p:grpSp>
      <p:sp>
        <p:nvSpPr>
          <p:cNvPr id="30" name="TextBox 29"/>
          <p:cNvSpPr txBox="1"/>
          <p:nvPr/>
        </p:nvSpPr>
        <p:spPr>
          <a:xfrm>
            <a:off x="1691680" y="248116"/>
            <a:ext cx="5760640" cy="1020644"/>
          </a:xfrm>
          <a:prstGeom prst="rect">
            <a:avLst/>
          </a:prstGeom>
          <a:noFill/>
        </p:spPr>
        <p:txBody>
          <a:bodyPr wrap="square" rtlCol="0">
            <a:noAutofit/>
          </a:bodyPr>
          <a:lstStyle/>
          <a:p>
            <a:pPr algn="ctr"/>
            <a:r>
              <a:rPr lang="en-US" sz="3200" dirty="0" smtClean="0">
                <a:latin typeface="Bahnschrift" pitchFamily="34" charset="0"/>
              </a:rPr>
              <a:t>Disadvantages of Business-to-Customer (B2C)</a:t>
            </a:r>
            <a:endParaRPr lang="en-US" sz="3200" dirty="0">
              <a:latin typeface="Bahnschrift" pitchFamily="34" charset="0"/>
            </a:endParaRPr>
          </a:p>
        </p:txBody>
      </p:sp>
      <p:sp>
        <p:nvSpPr>
          <p:cNvPr id="3" name="Rectangle 2"/>
          <p:cNvSpPr/>
          <p:nvPr/>
        </p:nvSpPr>
        <p:spPr>
          <a:xfrm>
            <a:off x="796679" y="1859340"/>
            <a:ext cx="7550642" cy="3139321"/>
          </a:xfrm>
          <a:prstGeom prst="rect">
            <a:avLst/>
          </a:prstGeom>
        </p:spPr>
        <p:txBody>
          <a:bodyPr wrap="square">
            <a:spAutoFit/>
          </a:bodyPr>
          <a:lstStyle/>
          <a:p>
            <a:pPr marL="285750" indent="-285750">
              <a:buFont typeface="Arial" pitchFamily="34" charset="0"/>
              <a:buChar char="•"/>
            </a:pPr>
            <a:r>
              <a:rPr lang="en-US" dirty="0" smtClean="0">
                <a:latin typeface="Bahnschrift" pitchFamily="34" charset="0"/>
              </a:rPr>
              <a:t> A lot of struggle to survive and thrive in a cut-throat race.</a:t>
            </a:r>
          </a:p>
          <a:p>
            <a:pPr marL="285750" indent="-285750">
              <a:buFont typeface="Arial" pitchFamily="34" charset="0"/>
              <a:buChar char="•"/>
            </a:pPr>
            <a:endParaRPr lang="en-US" dirty="0" smtClean="0">
              <a:latin typeface="Bahnschrift" pitchFamily="34" charset="0"/>
            </a:endParaRPr>
          </a:p>
          <a:p>
            <a:pPr marL="285750" indent="-285750">
              <a:buFont typeface="Arial" pitchFamily="34" charset="0"/>
              <a:buChar char="•"/>
            </a:pPr>
            <a:r>
              <a:rPr lang="en-US" dirty="0" smtClean="0">
                <a:latin typeface="Bahnschrift" pitchFamily="34" charset="0"/>
              </a:rPr>
              <a:t>Website needs to be capable of handling multiple orders at once.</a:t>
            </a:r>
          </a:p>
          <a:p>
            <a:pPr marL="285750" indent="-285750">
              <a:buFont typeface="Arial" pitchFamily="34" charset="0"/>
              <a:buChar char="•"/>
            </a:pPr>
            <a:endParaRPr lang="en-US" dirty="0" smtClean="0">
              <a:latin typeface="Bahnschrift" pitchFamily="34" charset="0"/>
            </a:endParaRPr>
          </a:p>
          <a:p>
            <a:pPr marL="285750" indent="-285750">
              <a:buFont typeface="Arial" pitchFamily="34" charset="0"/>
              <a:buChar char="•"/>
            </a:pPr>
            <a:r>
              <a:rPr lang="en-US" dirty="0" smtClean="0">
                <a:latin typeface="Bahnschrift" pitchFamily="34" charset="0"/>
              </a:rPr>
              <a:t>Low value of orders keep the margin lower than B2B website.</a:t>
            </a:r>
          </a:p>
          <a:p>
            <a:pPr marL="285750" indent="-285750">
              <a:buFont typeface="Arial" pitchFamily="34" charset="0"/>
              <a:buChar char="•"/>
            </a:pPr>
            <a:endParaRPr lang="en-US" dirty="0" smtClean="0">
              <a:latin typeface="Bahnschrift" pitchFamily="34" charset="0"/>
            </a:endParaRPr>
          </a:p>
          <a:p>
            <a:pPr marL="285750" indent="-285750">
              <a:buFont typeface="Arial" pitchFamily="34" charset="0"/>
              <a:buChar char="•"/>
            </a:pPr>
            <a:r>
              <a:rPr lang="en-US" dirty="0" smtClean="0">
                <a:latin typeface="Bahnschrift" pitchFamily="34" charset="0"/>
              </a:rPr>
              <a:t>It is difficult to get repetitive customers and need to invest more in online marketing.</a:t>
            </a:r>
          </a:p>
          <a:p>
            <a:pPr marL="285750" indent="-285750">
              <a:buFont typeface="Arial" pitchFamily="34" charset="0"/>
              <a:buChar char="•"/>
            </a:pPr>
            <a:endParaRPr lang="en-US" dirty="0" smtClean="0">
              <a:latin typeface="Bahnschrift" pitchFamily="34" charset="0"/>
            </a:endParaRPr>
          </a:p>
          <a:p>
            <a:pPr marL="285750" indent="-285750">
              <a:buFont typeface="Arial" pitchFamily="34" charset="0"/>
              <a:buChar char="•"/>
            </a:pPr>
            <a:r>
              <a:rPr lang="en-US" dirty="0" smtClean="0">
                <a:latin typeface="Bahnschrift" pitchFamily="34" charset="0"/>
              </a:rPr>
              <a:t>Finally, let’s discuss the combination of these two concepts- a unified Magento 2 website.</a:t>
            </a:r>
            <a:endParaRPr lang="en-IN" dirty="0">
              <a:latin typeface="Bahnschrift" pitchFamily="34" charset="0"/>
            </a:endParaRPr>
          </a:p>
        </p:txBody>
      </p:sp>
    </p:spTree>
    <p:extLst>
      <p:ext uri="{BB962C8B-B14F-4D97-AF65-F5344CB8AC3E}">
        <p14:creationId xmlns:p14="http://schemas.microsoft.com/office/powerpoint/2010/main" val="2025065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3.61111E-6 -1.96532E-6 L 1.00017 -1.96532E-6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30"/>
                                        </p:tgtEl>
                                        <p:attrNameLst>
                                          <p:attrName>style.visibility</p:attrName>
                                        </p:attrNameLst>
                                      </p:cBhvr>
                                      <p:to>
                                        <p:strVal val="visible"/>
                                      </p:to>
                                    </p:set>
                                    <p:anim calcmode="lin" valueType="num">
                                      <p:cBhvr>
                                        <p:cTn id="10"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30"/>
                                        </p:tgtEl>
                                        <p:attrNameLst>
                                          <p:attrName>ppt_y</p:attrName>
                                        </p:attrNameLst>
                                      </p:cBhvr>
                                      <p:tavLst>
                                        <p:tav tm="0">
                                          <p:val>
                                            <p:strVal val="#ppt_y"/>
                                          </p:val>
                                        </p:tav>
                                        <p:tav tm="100000">
                                          <p:val>
                                            <p:strVal val="#ppt_y"/>
                                          </p:val>
                                        </p:tav>
                                      </p:tavLst>
                                    </p:anim>
                                    <p:anim calcmode="lin" valueType="num">
                                      <p:cBhvr>
                                        <p:cTn id="12"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41" presetClass="entr" presetSubtype="0" fill="hold" grpId="0" nodeType="clickEffect">
                                  <p:stCondLst>
                                    <p:cond delay="0"/>
                                  </p:stCondLst>
                                  <p:iterate type="lt">
                                    <p:tmPct val="10000"/>
                                  </p:iterate>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
                                        </p:tgtEl>
                                        <p:attrNameLst>
                                          <p:attrName>ppt_y</p:attrName>
                                        </p:attrNameLst>
                                      </p:cBhvr>
                                      <p:tavLst>
                                        <p:tav tm="0">
                                          <p:val>
                                            <p:strVal val="#ppt_y"/>
                                          </p:val>
                                        </p:tav>
                                        <p:tav tm="100000">
                                          <p:val>
                                            <p:strVal val="#ppt_y"/>
                                          </p:val>
                                        </p:tav>
                                      </p:tavLst>
                                    </p:anim>
                                    <p:anim calcmode="lin" valueType="num">
                                      <p:cBhvr>
                                        <p:cTn id="21"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574" y="0"/>
            <a:ext cx="9161187" cy="6858000"/>
            <a:chOff x="-9144000" y="0"/>
            <a:chExt cx="9161187" cy="6858000"/>
          </a:xfrm>
        </p:grpSpPr>
        <p:sp>
          <p:nvSpPr>
            <p:cNvPr id="12" name="Rectangle 11"/>
            <p:cNvSpPr/>
            <p:nvPr/>
          </p:nvSpPr>
          <p:spPr>
            <a:xfrm>
              <a:off x="-914400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3" name="Group 12"/>
            <p:cNvGrpSpPr/>
            <p:nvPr/>
          </p:nvGrpSpPr>
          <p:grpSpPr>
            <a:xfrm>
              <a:off x="-522365" y="1736812"/>
              <a:ext cx="539552" cy="3384375"/>
              <a:chOff x="-522365" y="1736812"/>
              <a:chExt cx="539552" cy="3384375"/>
            </a:xfrm>
          </p:grpSpPr>
          <p:sp>
            <p:nvSpPr>
              <p:cNvPr id="14" name="Rounded Rectangle 13"/>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Disadvantage of B2C</a:t>
                </a:r>
                <a:endParaRPr lang="en-IN" sz="2400" b="1" dirty="0">
                  <a:latin typeface="Bahnschrift Light" pitchFamily="34" charset="0"/>
                </a:endParaRPr>
              </a:p>
            </p:txBody>
          </p:sp>
        </p:grpSp>
      </p:grpSp>
      <p:grpSp>
        <p:nvGrpSpPr>
          <p:cNvPr id="11" name="Group 10"/>
          <p:cNvGrpSpPr/>
          <p:nvPr/>
        </p:nvGrpSpPr>
        <p:grpSpPr>
          <a:xfrm>
            <a:off x="-9154613" y="0"/>
            <a:ext cx="9161187" cy="6858000"/>
            <a:chOff x="-9144000" y="0"/>
            <a:chExt cx="9161187" cy="6858000"/>
          </a:xfrm>
          <a:solidFill>
            <a:schemeClr val="bg1">
              <a:lumMod val="95000"/>
            </a:schemeClr>
          </a:solidFill>
        </p:grpSpPr>
        <p:sp>
          <p:nvSpPr>
            <p:cNvPr id="4" name="Rectangle 3"/>
            <p:cNvSpPr/>
            <p:nvPr/>
          </p:nvSpPr>
          <p:spPr>
            <a:xfrm>
              <a:off x="-9144000" y="0"/>
              <a:ext cx="9144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a:grpFill/>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C2C</a:t>
                </a:r>
                <a:endParaRPr lang="en-IN" sz="2400" b="1" dirty="0">
                  <a:latin typeface="Bahnschrift Light" pitchFamily="34" charset="0"/>
                </a:endParaRPr>
              </a:p>
            </p:txBody>
          </p:sp>
        </p:grpSp>
      </p:grpSp>
      <p:sp>
        <p:nvSpPr>
          <p:cNvPr id="30" name="TextBox 29"/>
          <p:cNvSpPr txBox="1"/>
          <p:nvPr/>
        </p:nvSpPr>
        <p:spPr>
          <a:xfrm>
            <a:off x="1691680" y="248116"/>
            <a:ext cx="5760640" cy="732612"/>
          </a:xfrm>
          <a:prstGeom prst="rect">
            <a:avLst/>
          </a:prstGeom>
          <a:noFill/>
        </p:spPr>
        <p:txBody>
          <a:bodyPr wrap="square" rtlCol="0">
            <a:noAutofit/>
          </a:bodyPr>
          <a:lstStyle/>
          <a:p>
            <a:pPr algn="ctr"/>
            <a:r>
              <a:rPr lang="en-US" sz="3200" dirty="0" smtClean="0">
                <a:latin typeface="Bahnschrift" pitchFamily="34" charset="0"/>
              </a:rPr>
              <a:t>Customer-to-Customer (C2C)</a:t>
            </a:r>
            <a:endParaRPr lang="en-US" sz="3200" dirty="0">
              <a:latin typeface="Bahnschrift" pitchFamily="34" charset="0"/>
            </a:endParaRPr>
          </a:p>
        </p:txBody>
      </p:sp>
      <p:sp>
        <p:nvSpPr>
          <p:cNvPr id="3" name="Rectangle 2"/>
          <p:cNvSpPr/>
          <p:nvPr/>
        </p:nvSpPr>
        <p:spPr>
          <a:xfrm>
            <a:off x="796679" y="836713"/>
            <a:ext cx="7550642" cy="1785104"/>
          </a:xfrm>
          <a:prstGeom prst="rect">
            <a:avLst/>
          </a:prstGeom>
        </p:spPr>
        <p:txBody>
          <a:bodyPr wrap="square">
            <a:spAutoFit/>
          </a:bodyPr>
          <a:lstStyle/>
          <a:p>
            <a:r>
              <a:rPr lang="en-US" sz="1900" b="1" dirty="0" smtClean="0">
                <a:latin typeface="Bahnschrift" pitchFamily="34" charset="0"/>
              </a:rPr>
              <a:t>What Is Customer to Customer (C2C)?</a:t>
            </a:r>
          </a:p>
          <a:p>
            <a:r>
              <a:rPr lang="en-US" dirty="0" smtClean="0">
                <a:latin typeface="Bahnschrift" pitchFamily="34" charset="0"/>
              </a:rPr>
              <a:t>Customer to customer (C2C) is a business model whereby customers can trade with each other, typically in an online environment. Two implementations of C2C markets are auctions and classified advertisements. C2C marketing has soared in popularity with the arrival of the Internet and companies such as eBay.</a:t>
            </a:r>
            <a:endParaRPr lang="en-IN" dirty="0">
              <a:latin typeface="Bahnschrift"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679" y="3033206"/>
            <a:ext cx="7550642" cy="3142857"/>
          </a:xfrm>
          <a:prstGeom prst="rect">
            <a:avLst/>
          </a:prstGeom>
        </p:spPr>
      </p:pic>
    </p:spTree>
    <p:extLst>
      <p:ext uri="{BB962C8B-B14F-4D97-AF65-F5344CB8AC3E}">
        <p14:creationId xmlns:p14="http://schemas.microsoft.com/office/powerpoint/2010/main" val="11641186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3.61111E-6 -1.96532E-6 L 1.00017 -1.96532E-6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30"/>
                                        </p:tgtEl>
                                        <p:attrNameLst>
                                          <p:attrName>style.visibility</p:attrName>
                                        </p:attrNameLst>
                                      </p:cBhvr>
                                      <p:to>
                                        <p:strVal val="visible"/>
                                      </p:to>
                                    </p:set>
                                    <p:anim calcmode="lin" valueType="num">
                                      <p:cBhvr>
                                        <p:cTn id="10"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30"/>
                                        </p:tgtEl>
                                        <p:attrNameLst>
                                          <p:attrName>ppt_y</p:attrName>
                                        </p:attrNameLst>
                                      </p:cBhvr>
                                      <p:tavLst>
                                        <p:tav tm="0">
                                          <p:val>
                                            <p:strVal val="#ppt_y"/>
                                          </p:val>
                                        </p:tav>
                                        <p:tav tm="100000">
                                          <p:val>
                                            <p:strVal val="#ppt_y"/>
                                          </p:val>
                                        </p:tav>
                                      </p:tavLst>
                                    </p:anim>
                                    <p:anim calcmode="lin" valueType="num">
                                      <p:cBhvr>
                                        <p:cTn id="12"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41" presetClass="entr" presetSubtype="0" fill="hold" grpId="0" nodeType="clickEffect">
                                  <p:stCondLst>
                                    <p:cond delay="0"/>
                                  </p:stCondLst>
                                  <p:iterate type="lt">
                                    <p:tmPct val="10000"/>
                                  </p:iterate>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
                                        </p:tgtEl>
                                        <p:attrNameLst>
                                          <p:attrName>ppt_y</p:attrName>
                                        </p:attrNameLst>
                                      </p:cBhvr>
                                      <p:tavLst>
                                        <p:tav tm="0">
                                          <p:val>
                                            <p:strVal val="#ppt_y"/>
                                          </p:val>
                                        </p:tav>
                                        <p:tav tm="100000">
                                          <p:val>
                                            <p:strVal val="#ppt_y"/>
                                          </p:val>
                                        </p:tav>
                                      </p:tavLst>
                                    </p:anim>
                                    <p:anim calcmode="lin" valueType="num">
                                      <p:cBhvr>
                                        <p:cTn id="21"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
                                        </p:tgtEl>
                                      </p:cBhvr>
                                    </p:animEffect>
                                  </p:childTnLst>
                                </p:cTn>
                              </p:par>
                              <p:par>
                                <p:cTn id="24" presetID="16" presetClass="entr" presetSubtype="21" fill="hold" nodeType="withEffect">
                                  <p:stCondLst>
                                    <p:cond delay="500"/>
                                  </p:stCondLst>
                                  <p:childTnLst>
                                    <p:set>
                                      <p:cBhvr>
                                        <p:cTn id="25" dur="1" fill="hold">
                                          <p:stCondLst>
                                            <p:cond delay="0"/>
                                          </p:stCondLst>
                                        </p:cTn>
                                        <p:tgtEl>
                                          <p:spTgt spid="5"/>
                                        </p:tgtEl>
                                        <p:attrNameLst>
                                          <p:attrName>style.visibility</p:attrName>
                                        </p:attrNameLst>
                                      </p:cBhvr>
                                      <p:to>
                                        <p:strVal val="visible"/>
                                      </p:to>
                                    </p:set>
                                    <p:animEffect transition="in" filter="barn(inVertical)">
                                      <p:cBhvr>
                                        <p:cTn id="26" dur="5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574" y="0"/>
            <a:ext cx="9161187" cy="6858000"/>
            <a:chOff x="-9144000" y="0"/>
            <a:chExt cx="9161187" cy="6858000"/>
          </a:xfrm>
        </p:grpSpPr>
        <p:sp>
          <p:nvSpPr>
            <p:cNvPr id="12" name="Rectangle 11"/>
            <p:cNvSpPr/>
            <p:nvPr/>
          </p:nvSpPr>
          <p:spPr>
            <a:xfrm>
              <a:off x="-914400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3" name="Group 12"/>
            <p:cNvGrpSpPr/>
            <p:nvPr/>
          </p:nvGrpSpPr>
          <p:grpSpPr>
            <a:xfrm>
              <a:off x="-522365" y="1736812"/>
              <a:ext cx="539552" cy="3384375"/>
              <a:chOff x="-522365" y="1736812"/>
              <a:chExt cx="539552" cy="3384375"/>
            </a:xfrm>
          </p:grpSpPr>
          <p:sp>
            <p:nvSpPr>
              <p:cNvPr id="14" name="Rounded Rectangle 13"/>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rot="16200000">
                <a:off x="-1831891" y="3198168"/>
                <a:ext cx="3138770" cy="461665"/>
              </a:xfrm>
              <a:prstGeom prst="rect">
                <a:avLst/>
              </a:prstGeom>
              <a:noFill/>
            </p:spPr>
            <p:txBody>
              <a:bodyPr wrap="square" rtlCol="0">
                <a:spAutoFit/>
              </a:bodyPr>
              <a:lstStyle/>
              <a:p>
                <a:pPr algn="ctr"/>
                <a:r>
                  <a:rPr lang="en-IN" sz="2400" b="1" dirty="0">
                    <a:latin typeface="Bahnschrift Light" pitchFamily="34" charset="0"/>
                  </a:rPr>
                  <a:t>C</a:t>
                </a:r>
                <a:r>
                  <a:rPr lang="en-IN" sz="2400" b="1" dirty="0" smtClean="0">
                    <a:latin typeface="Bahnschrift Light" pitchFamily="34" charset="0"/>
                  </a:rPr>
                  <a:t>2C</a:t>
                </a:r>
                <a:endParaRPr lang="en-IN" sz="2400" b="1" dirty="0">
                  <a:latin typeface="Bahnschrift Light" pitchFamily="34" charset="0"/>
                </a:endParaRPr>
              </a:p>
            </p:txBody>
          </p:sp>
        </p:grpSp>
      </p:grpSp>
      <p:grpSp>
        <p:nvGrpSpPr>
          <p:cNvPr id="11" name="Group 10"/>
          <p:cNvGrpSpPr/>
          <p:nvPr/>
        </p:nvGrpSpPr>
        <p:grpSpPr>
          <a:xfrm>
            <a:off x="-9154613" y="0"/>
            <a:ext cx="9161187" cy="6858000"/>
            <a:chOff x="-9144000" y="0"/>
            <a:chExt cx="9161187" cy="6858000"/>
          </a:xfrm>
          <a:solidFill>
            <a:schemeClr val="bg1">
              <a:lumMod val="95000"/>
            </a:schemeClr>
          </a:solidFill>
        </p:grpSpPr>
        <p:sp>
          <p:nvSpPr>
            <p:cNvPr id="4" name="Rectangle 3"/>
            <p:cNvSpPr/>
            <p:nvPr/>
          </p:nvSpPr>
          <p:spPr>
            <a:xfrm>
              <a:off x="-9144000" y="0"/>
              <a:ext cx="9144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a:grpFill/>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Advantages of C2C</a:t>
                </a:r>
                <a:endParaRPr lang="en-IN" sz="2400" b="1" dirty="0">
                  <a:latin typeface="Bahnschrift Light" pitchFamily="34" charset="0"/>
                </a:endParaRPr>
              </a:p>
            </p:txBody>
          </p:sp>
        </p:grpSp>
      </p:grpSp>
      <p:sp>
        <p:nvSpPr>
          <p:cNvPr id="30" name="TextBox 29"/>
          <p:cNvSpPr txBox="1"/>
          <p:nvPr/>
        </p:nvSpPr>
        <p:spPr>
          <a:xfrm>
            <a:off x="1691680" y="248116"/>
            <a:ext cx="5760640" cy="1020644"/>
          </a:xfrm>
          <a:prstGeom prst="rect">
            <a:avLst/>
          </a:prstGeom>
          <a:noFill/>
        </p:spPr>
        <p:txBody>
          <a:bodyPr wrap="square" rtlCol="0">
            <a:noAutofit/>
          </a:bodyPr>
          <a:lstStyle/>
          <a:p>
            <a:pPr algn="ctr"/>
            <a:r>
              <a:rPr lang="en-US" sz="3200" dirty="0" smtClean="0">
                <a:latin typeface="Bahnschrift" pitchFamily="34" charset="0"/>
              </a:rPr>
              <a:t>Advantages of Customer-to-Customer (C2C)</a:t>
            </a:r>
            <a:endParaRPr lang="en-US" sz="3200" dirty="0">
              <a:latin typeface="Bahnschrift" pitchFamily="34" charset="0"/>
            </a:endParaRPr>
          </a:p>
        </p:txBody>
      </p:sp>
      <p:sp>
        <p:nvSpPr>
          <p:cNvPr id="3" name="Rectangle 2"/>
          <p:cNvSpPr/>
          <p:nvPr/>
        </p:nvSpPr>
        <p:spPr>
          <a:xfrm>
            <a:off x="796679" y="1582341"/>
            <a:ext cx="7550642" cy="3970318"/>
          </a:xfrm>
          <a:prstGeom prst="rect">
            <a:avLst/>
          </a:prstGeom>
        </p:spPr>
        <p:txBody>
          <a:bodyPr wrap="square">
            <a:spAutoFit/>
          </a:bodyPr>
          <a:lstStyle/>
          <a:p>
            <a:pPr marL="285750" indent="-285750">
              <a:buFont typeface="Arial" pitchFamily="34" charset="0"/>
              <a:buChar char="•"/>
            </a:pPr>
            <a:r>
              <a:rPr lang="en-US" dirty="0" smtClean="0">
                <a:latin typeface="Bahnschrift" pitchFamily="34" charset="0"/>
              </a:rPr>
              <a:t> It is always available so that consumers can have access to whenever they feel like shopping.</a:t>
            </a:r>
          </a:p>
          <a:p>
            <a:pPr marL="285750" indent="-285750">
              <a:buFont typeface="Arial" pitchFamily="34" charset="0"/>
              <a:buChar char="•"/>
            </a:pPr>
            <a:endParaRPr lang="en-US" dirty="0" smtClean="0">
              <a:latin typeface="Bahnschrift" pitchFamily="34" charset="0"/>
            </a:endParaRPr>
          </a:p>
          <a:p>
            <a:pPr marL="285750" indent="-285750">
              <a:buFont typeface="Arial" pitchFamily="34" charset="0"/>
              <a:buChar char="•"/>
            </a:pPr>
            <a:r>
              <a:rPr lang="en-US" dirty="0" smtClean="0">
                <a:latin typeface="Bahnschrift" pitchFamily="34" charset="0"/>
              </a:rPr>
              <a:t>There is regular updating of the website.</a:t>
            </a:r>
          </a:p>
          <a:p>
            <a:pPr marL="285750" indent="-285750">
              <a:buFont typeface="Arial" pitchFamily="34" charset="0"/>
              <a:buChar char="•"/>
            </a:pPr>
            <a:endParaRPr lang="en-US" dirty="0" smtClean="0">
              <a:latin typeface="Bahnschrift" pitchFamily="34" charset="0"/>
            </a:endParaRPr>
          </a:p>
          <a:p>
            <a:pPr marL="285750" indent="-285750">
              <a:buFont typeface="Arial" pitchFamily="34" charset="0"/>
              <a:buChar char="•"/>
            </a:pPr>
            <a:r>
              <a:rPr lang="en-US" dirty="0" smtClean="0">
                <a:latin typeface="Bahnschrift" pitchFamily="34" charset="0"/>
              </a:rPr>
              <a:t>Consumers selling products to other consumers benefit from the higher profitability that result from selling directly to one another.</a:t>
            </a:r>
          </a:p>
          <a:p>
            <a:pPr marL="285750" indent="-285750">
              <a:buFont typeface="Arial" pitchFamily="34" charset="0"/>
              <a:buChar char="•"/>
            </a:pPr>
            <a:endParaRPr lang="en-US" dirty="0" smtClean="0">
              <a:latin typeface="Bahnschrift" pitchFamily="34" charset="0"/>
            </a:endParaRPr>
          </a:p>
          <a:p>
            <a:pPr marL="285750" indent="-285750">
              <a:buFont typeface="Arial" pitchFamily="34" charset="0"/>
              <a:buChar char="•"/>
            </a:pPr>
            <a:r>
              <a:rPr lang="en-US" dirty="0" smtClean="0">
                <a:latin typeface="Bahnschrift" pitchFamily="34" charset="0"/>
              </a:rPr>
              <a:t>There is a low transaction cost; sellers can post their goods over the internet at a cheaper rate far better than higher price of renting a space in a store.</a:t>
            </a:r>
          </a:p>
          <a:p>
            <a:pPr marL="285750" indent="-285750">
              <a:buFont typeface="Arial" pitchFamily="34" charset="0"/>
              <a:buChar char="•"/>
            </a:pPr>
            <a:endParaRPr lang="en-US" dirty="0" smtClean="0">
              <a:latin typeface="Bahnschrift" pitchFamily="34" charset="0"/>
            </a:endParaRPr>
          </a:p>
          <a:p>
            <a:pPr marL="285750" indent="-285750">
              <a:buFont typeface="Arial" pitchFamily="34" charset="0"/>
              <a:buChar char="•"/>
            </a:pPr>
            <a:r>
              <a:rPr lang="en-US" dirty="0" smtClean="0">
                <a:latin typeface="Bahnschrift" pitchFamily="34" charset="0"/>
              </a:rPr>
              <a:t>Customer can directly contact sellers and do without an intermediary.</a:t>
            </a:r>
            <a:endParaRPr lang="en-IN" dirty="0">
              <a:latin typeface="Bahnschrift" pitchFamily="34" charset="0"/>
            </a:endParaRPr>
          </a:p>
        </p:txBody>
      </p:sp>
    </p:spTree>
    <p:extLst>
      <p:ext uri="{BB962C8B-B14F-4D97-AF65-F5344CB8AC3E}">
        <p14:creationId xmlns:p14="http://schemas.microsoft.com/office/powerpoint/2010/main" val="6770735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3.61111E-6 -1.96532E-6 L 1.00017 -1.96532E-6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30"/>
                                        </p:tgtEl>
                                        <p:attrNameLst>
                                          <p:attrName>style.visibility</p:attrName>
                                        </p:attrNameLst>
                                      </p:cBhvr>
                                      <p:to>
                                        <p:strVal val="visible"/>
                                      </p:to>
                                    </p:set>
                                    <p:anim calcmode="lin" valueType="num">
                                      <p:cBhvr>
                                        <p:cTn id="10"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30"/>
                                        </p:tgtEl>
                                        <p:attrNameLst>
                                          <p:attrName>ppt_y</p:attrName>
                                        </p:attrNameLst>
                                      </p:cBhvr>
                                      <p:tavLst>
                                        <p:tav tm="0">
                                          <p:val>
                                            <p:strVal val="#ppt_y"/>
                                          </p:val>
                                        </p:tav>
                                        <p:tav tm="100000">
                                          <p:val>
                                            <p:strVal val="#ppt_y"/>
                                          </p:val>
                                        </p:tav>
                                      </p:tavLst>
                                    </p:anim>
                                    <p:anim calcmode="lin" valueType="num">
                                      <p:cBhvr>
                                        <p:cTn id="12"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41" presetClass="entr" presetSubtype="0" fill="hold" grpId="0" nodeType="clickEffect">
                                  <p:stCondLst>
                                    <p:cond delay="0"/>
                                  </p:stCondLst>
                                  <p:iterate type="lt">
                                    <p:tmPct val="10000"/>
                                  </p:iterate>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
                                        </p:tgtEl>
                                        <p:attrNameLst>
                                          <p:attrName>ppt_y</p:attrName>
                                        </p:attrNameLst>
                                      </p:cBhvr>
                                      <p:tavLst>
                                        <p:tav tm="0">
                                          <p:val>
                                            <p:strVal val="#ppt_y"/>
                                          </p:val>
                                        </p:tav>
                                        <p:tav tm="100000">
                                          <p:val>
                                            <p:strVal val="#ppt_y"/>
                                          </p:val>
                                        </p:tav>
                                      </p:tavLst>
                                    </p:anim>
                                    <p:anim calcmode="lin" valueType="num">
                                      <p:cBhvr>
                                        <p:cTn id="21"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574" y="0"/>
            <a:ext cx="9161187" cy="6858000"/>
            <a:chOff x="-9144000" y="0"/>
            <a:chExt cx="9161187" cy="6858000"/>
          </a:xfrm>
        </p:grpSpPr>
        <p:sp>
          <p:nvSpPr>
            <p:cNvPr id="12" name="Rectangle 11"/>
            <p:cNvSpPr/>
            <p:nvPr/>
          </p:nvSpPr>
          <p:spPr>
            <a:xfrm>
              <a:off x="-914400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3" name="Group 12"/>
            <p:cNvGrpSpPr/>
            <p:nvPr/>
          </p:nvGrpSpPr>
          <p:grpSpPr>
            <a:xfrm>
              <a:off x="-522365" y="1736812"/>
              <a:ext cx="539552" cy="3384375"/>
              <a:chOff x="-522365" y="1736812"/>
              <a:chExt cx="539552" cy="3384375"/>
            </a:xfrm>
          </p:grpSpPr>
          <p:sp>
            <p:nvSpPr>
              <p:cNvPr id="14" name="Rounded Rectangle 13"/>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Advantages of C2C</a:t>
                </a:r>
                <a:endParaRPr lang="en-IN" sz="2400" b="1" dirty="0">
                  <a:latin typeface="Bahnschrift Light" pitchFamily="34" charset="0"/>
                </a:endParaRPr>
              </a:p>
            </p:txBody>
          </p:sp>
        </p:grpSp>
      </p:grpSp>
      <p:grpSp>
        <p:nvGrpSpPr>
          <p:cNvPr id="11" name="Group 10"/>
          <p:cNvGrpSpPr/>
          <p:nvPr/>
        </p:nvGrpSpPr>
        <p:grpSpPr>
          <a:xfrm>
            <a:off x="-9154613" y="0"/>
            <a:ext cx="9161187" cy="6858000"/>
            <a:chOff x="-9144000" y="0"/>
            <a:chExt cx="9161187" cy="6858000"/>
          </a:xfrm>
          <a:solidFill>
            <a:schemeClr val="bg1">
              <a:lumMod val="95000"/>
            </a:schemeClr>
          </a:solidFill>
        </p:grpSpPr>
        <p:sp>
          <p:nvSpPr>
            <p:cNvPr id="4" name="Rectangle 3"/>
            <p:cNvSpPr/>
            <p:nvPr/>
          </p:nvSpPr>
          <p:spPr>
            <a:xfrm>
              <a:off x="-9144000" y="0"/>
              <a:ext cx="9144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a:grpFill/>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Disadvantage of C2C</a:t>
                </a:r>
                <a:endParaRPr lang="en-IN" sz="2400" b="1" dirty="0">
                  <a:latin typeface="Bahnschrift Light" pitchFamily="34" charset="0"/>
                </a:endParaRPr>
              </a:p>
            </p:txBody>
          </p:sp>
        </p:grpSp>
      </p:grpSp>
      <p:sp>
        <p:nvSpPr>
          <p:cNvPr id="30" name="TextBox 29"/>
          <p:cNvSpPr txBox="1"/>
          <p:nvPr/>
        </p:nvSpPr>
        <p:spPr>
          <a:xfrm>
            <a:off x="1691680" y="248116"/>
            <a:ext cx="5760640" cy="1020644"/>
          </a:xfrm>
          <a:prstGeom prst="rect">
            <a:avLst/>
          </a:prstGeom>
          <a:noFill/>
        </p:spPr>
        <p:txBody>
          <a:bodyPr wrap="square" rtlCol="0">
            <a:noAutofit/>
          </a:bodyPr>
          <a:lstStyle/>
          <a:p>
            <a:pPr algn="ctr"/>
            <a:r>
              <a:rPr lang="en-US" sz="3200" dirty="0" smtClean="0">
                <a:latin typeface="Bahnschrift" pitchFamily="34" charset="0"/>
              </a:rPr>
              <a:t>Disadvantages of Customer-to-Customer (C2C)</a:t>
            </a:r>
            <a:endParaRPr lang="en-US" sz="3200" dirty="0">
              <a:latin typeface="Bahnschrift" pitchFamily="34" charset="0"/>
            </a:endParaRPr>
          </a:p>
        </p:txBody>
      </p:sp>
      <p:sp>
        <p:nvSpPr>
          <p:cNvPr id="3" name="Rectangle 2"/>
          <p:cNvSpPr/>
          <p:nvPr/>
        </p:nvSpPr>
        <p:spPr>
          <a:xfrm>
            <a:off x="796679" y="2413338"/>
            <a:ext cx="7550642" cy="2031325"/>
          </a:xfrm>
          <a:prstGeom prst="rect">
            <a:avLst/>
          </a:prstGeom>
        </p:spPr>
        <p:txBody>
          <a:bodyPr wrap="square">
            <a:spAutoFit/>
          </a:bodyPr>
          <a:lstStyle/>
          <a:p>
            <a:pPr marL="285750" indent="-285750">
              <a:buFont typeface="Arial" pitchFamily="34" charset="0"/>
              <a:buChar char="•"/>
            </a:pPr>
            <a:r>
              <a:rPr lang="en-US" dirty="0" smtClean="0">
                <a:latin typeface="Bahnschrift" pitchFamily="34" charset="0"/>
              </a:rPr>
              <a:t>Payment made has no guarantee.</a:t>
            </a:r>
          </a:p>
          <a:p>
            <a:pPr marL="285750" indent="-285750">
              <a:buFont typeface="Arial" pitchFamily="34" charset="0"/>
              <a:buChar char="•"/>
            </a:pPr>
            <a:endParaRPr lang="en-US" dirty="0" smtClean="0">
              <a:latin typeface="Bahnschrift" pitchFamily="34" charset="0"/>
            </a:endParaRPr>
          </a:p>
          <a:p>
            <a:pPr marL="285750" indent="-285750">
              <a:buFont typeface="Arial" pitchFamily="34" charset="0"/>
              <a:buChar char="•"/>
            </a:pPr>
            <a:r>
              <a:rPr lang="en-US" dirty="0" smtClean="0">
                <a:latin typeface="Bahnschrift" pitchFamily="34" charset="0"/>
              </a:rPr>
              <a:t>There could be theft as scammers might try to create their website with names of some famous C2C websites such as eBay to attract customers.</a:t>
            </a:r>
          </a:p>
          <a:p>
            <a:pPr marL="285750" indent="-285750">
              <a:buFont typeface="Arial" pitchFamily="34" charset="0"/>
              <a:buChar char="•"/>
            </a:pPr>
            <a:endParaRPr lang="en-US" dirty="0" smtClean="0">
              <a:latin typeface="Bahnschrift" pitchFamily="34" charset="0"/>
            </a:endParaRPr>
          </a:p>
          <a:p>
            <a:pPr marL="285750" indent="-285750">
              <a:buFont typeface="Arial" pitchFamily="34" charset="0"/>
              <a:buChar char="•"/>
            </a:pPr>
            <a:r>
              <a:rPr lang="en-US" dirty="0" smtClean="0">
                <a:latin typeface="Bahnschrift" pitchFamily="34" charset="0"/>
              </a:rPr>
              <a:t>There is lack of controlling quality of the products.</a:t>
            </a:r>
            <a:endParaRPr lang="en-IN" dirty="0">
              <a:latin typeface="Bahnschrift" pitchFamily="34" charset="0"/>
            </a:endParaRPr>
          </a:p>
        </p:txBody>
      </p:sp>
    </p:spTree>
    <p:extLst>
      <p:ext uri="{BB962C8B-B14F-4D97-AF65-F5344CB8AC3E}">
        <p14:creationId xmlns:p14="http://schemas.microsoft.com/office/powerpoint/2010/main" val="19671668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3.61111E-6 -1.96532E-6 L 1.00017 -1.96532E-6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30"/>
                                        </p:tgtEl>
                                        <p:attrNameLst>
                                          <p:attrName>style.visibility</p:attrName>
                                        </p:attrNameLst>
                                      </p:cBhvr>
                                      <p:to>
                                        <p:strVal val="visible"/>
                                      </p:to>
                                    </p:set>
                                    <p:anim calcmode="lin" valueType="num">
                                      <p:cBhvr>
                                        <p:cTn id="10"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30"/>
                                        </p:tgtEl>
                                        <p:attrNameLst>
                                          <p:attrName>ppt_y</p:attrName>
                                        </p:attrNameLst>
                                      </p:cBhvr>
                                      <p:tavLst>
                                        <p:tav tm="0">
                                          <p:val>
                                            <p:strVal val="#ppt_y"/>
                                          </p:val>
                                        </p:tav>
                                        <p:tav tm="100000">
                                          <p:val>
                                            <p:strVal val="#ppt_y"/>
                                          </p:val>
                                        </p:tav>
                                      </p:tavLst>
                                    </p:anim>
                                    <p:anim calcmode="lin" valueType="num">
                                      <p:cBhvr>
                                        <p:cTn id="12"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41" presetClass="entr" presetSubtype="0" fill="hold" grpId="0" nodeType="clickEffect">
                                  <p:stCondLst>
                                    <p:cond delay="0"/>
                                  </p:stCondLst>
                                  <p:iterate type="lt">
                                    <p:tmPct val="10000"/>
                                  </p:iterate>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
                                        </p:tgtEl>
                                        <p:attrNameLst>
                                          <p:attrName>ppt_y</p:attrName>
                                        </p:attrNameLst>
                                      </p:cBhvr>
                                      <p:tavLst>
                                        <p:tav tm="0">
                                          <p:val>
                                            <p:strVal val="#ppt_y"/>
                                          </p:val>
                                        </p:tav>
                                        <p:tav tm="100000">
                                          <p:val>
                                            <p:strVal val="#ppt_y"/>
                                          </p:val>
                                        </p:tav>
                                      </p:tavLst>
                                    </p:anim>
                                    <p:anim calcmode="lin" valueType="num">
                                      <p:cBhvr>
                                        <p:cTn id="21"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574" y="0"/>
            <a:ext cx="9161187" cy="6858000"/>
            <a:chOff x="-9144000" y="0"/>
            <a:chExt cx="9161187" cy="6858000"/>
          </a:xfrm>
        </p:grpSpPr>
        <p:sp>
          <p:nvSpPr>
            <p:cNvPr id="12" name="Rectangle 11"/>
            <p:cNvSpPr/>
            <p:nvPr/>
          </p:nvSpPr>
          <p:spPr>
            <a:xfrm>
              <a:off x="-914400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3" name="Group 12"/>
            <p:cNvGrpSpPr/>
            <p:nvPr/>
          </p:nvGrpSpPr>
          <p:grpSpPr>
            <a:xfrm>
              <a:off x="-522365" y="1736812"/>
              <a:ext cx="539552" cy="3384375"/>
              <a:chOff x="-522365" y="1736812"/>
              <a:chExt cx="539552" cy="3384375"/>
            </a:xfrm>
          </p:grpSpPr>
          <p:sp>
            <p:nvSpPr>
              <p:cNvPr id="14" name="Rounded Rectangle 13"/>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rot="16200000">
                <a:off x="-1831891" y="3198168"/>
                <a:ext cx="3138770" cy="461665"/>
              </a:xfrm>
              <a:prstGeom prst="rect">
                <a:avLst/>
              </a:prstGeom>
              <a:noFill/>
            </p:spPr>
            <p:txBody>
              <a:bodyPr wrap="square" rtlCol="0">
                <a:spAutoFit/>
              </a:bodyPr>
              <a:lstStyle/>
              <a:p>
                <a:pPr algn="ctr"/>
                <a:r>
                  <a:rPr lang="en-IN" sz="2400" b="1" dirty="0">
                    <a:latin typeface="Bahnschrift Light" pitchFamily="34" charset="0"/>
                  </a:rPr>
                  <a:t>Disadvantage of </a:t>
                </a:r>
                <a:r>
                  <a:rPr lang="en-IN" sz="2400" b="1" dirty="0" smtClean="0">
                    <a:latin typeface="Bahnschrift Light" pitchFamily="34" charset="0"/>
                  </a:rPr>
                  <a:t>C2C</a:t>
                </a:r>
                <a:endParaRPr lang="en-IN" sz="2400" b="1" dirty="0">
                  <a:latin typeface="Bahnschrift Light" pitchFamily="34" charset="0"/>
                </a:endParaRPr>
              </a:p>
            </p:txBody>
          </p:sp>
        </p:grpSp>
      </p:grpSp>
      <p:grpSp>
        <p:nvGrpSpPr>
          <p:cNvPr id="11" name="Group 10"/>
          <p:cNvGrpSpPr/>
          <p:nvPr/>
        </p:nvGrpSpPr>
        <p:grpSpPr>
          <a:xfrm>
            <a:off x="-9154613" y="0"/>
            <a:ext cx="9161187" cy="6858000"/>
            <a:chOff x="-9144000" y="0"/>
            <a:chExt cx="9161187" cy="6858000"/>
          </a:xfrm>
          <a:solidFill>
            <a:schemeClr val="bg1">
              <a:lumMod val="95000"/>
            </a:schemeClr>
          </a:solidFill>
        </p:grpSpPr>
        <p:sp>
          <p:nvSpPr>
            <p:cNvPr id="4" name="Rectangle 3"/>
            <p:cNvSpPr/>
            <p:nvPr/>
          </p:nvSpPr>
          <p:spPr>
            <a:xfrm>
              <a:off x="-9144000" y="0"/>
              <a:ext cx="9144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a:grpFill/>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Conclusion</a:t>
                </a:r>
                <a:endParaRPr lang="en-IN" sz="2400" b="1" dirty="0">
                  <a:latin typeface="Bahnschrift Light" pitchFamily="34" charset="0"/>
                </a:endParaRPr>
              </a:p>
            </p:txBody>
          </p:sp>
        </p:grpSp>
      </p:grpSp>
      <p:sp>
        <p:nvSpPr>
          <p:cNvPr id="30" name="TextBox 29"/>
          <p:cNvSpPr txBox="1"/>
          <p:nvPr/>
        </p:nvSpPr>
        <p:spPr>
          <a:xfrm>
            <a:off x="1691680" y="248116"/>
            <a:ext cx="5760640" cy="1020644"/>
          </a:xfrm>
          <a:prstGeom prst="rect">
            <a:avLst/>
          </a:prstGeom>
          <a:noFill/>
        </p:spPr>
        <p:txBody>
          <a:bodyPr wrap="square" rtlCol="0">
            <a:noAutofit/>
          </a:bodyPr>
          <a:lstStyle/>
          <a:p>
            <a:pPr algn="ctr"/>
            <a:r>
              <a:rPr lang="en-US" sz="3200" dirty="0" smtClean="0">
                <a:latin typeface="Bahnschrift" pitchFamily="34" charset="0"/>
              </a:rPr>
              <a:t>Conclusion</a:t>
            </a:r>
            <a:endParaRPr lang="en-US" sz="3200" dirty="0">
              <a:latin typeface="Bahnschrift" pitchFamily="34" charset="0"/>
            </a:endParaRPr>
          </a:p>
        </p:txBody>
      </p:sp>
      <p:sp>
        <p:nvSpPr>
          <p:cNvPr id="3" name="Rectangle 2"/>
          <p:cNvSpPr/>
          <p:nvPr/>
        </p:nvSpPr>
        <p:spPr>
          <a:xfrm>
            <a:off x="796679" y="2413338"/>
            <a:ext cx="7550642" cy="2031325"/>
          </a:xfrm>
          <a:prstGeom prst="rect">
            <a:avLst/>
          </a:prstGeom>
        </p:spPr>
        <p:txBody>
          <a:bodyPr wrap="square">
            <a:spAutoFit/>
          </a:bodyPr>
          <a:lstStyle/>
          <a:p>
            <a:pPr marL="285750" indent="-285750">
              <a:buFont typeface="Arial" pitchFamily="34" charset="0"/>
              <a:buChar char="•"/>
            </a:pPr>
            <a:r>
              <a:rPr lang="en-US" dirty="0" smtClean="0">
                <a:latin typeface="Bahnschrift" pitchFamily="34" charset="0"/>
              </a:rPr>
              <a:t>Payment made has no guarantee.</a:t>
            </a:r>
          </a:p>
          <a:p>
            <a:pPr marL="285750" indent="-285750">
              <a:buFont typeface="Arial" pitchFamily="34" charset="0"/>
              <a:buChar char="•"/>
            </a:pPr>
            <a:endParaRPr lang="en-US" dirty="0" smtClean="0">
              <a:latin typeface="Bahnschrift" pitchFamily="34" charset="0"/>
            </a:endParaRPr>
          </a:p>
          <a:p>
            <a:pPr marL="285750" indent="-285750">
              <a:buFont typeface="Arial" pitchFamily="34" charset="0"/>
              <a:buChar char="•"/>
            </a:pPr>
            <a:r>
              <a:rPr lang="en-US" dirty="0" smtClean="0">
                <a:latin typeface="Bahnschrift" pitchFamily="34" charset="0"/>
              </a:rPr>
              <a:t>There could be theft as scammers might try to create their website with names of some famous C2C websites such as eBay to attract customers.</a:t>
            </a:r>
          </a:p>
          <a:p>
            <a:pPr marL="285750" indent="-285750">
              <a:buFont typeface="Arial" pitchFamily="34" charset="0"/>
              <a:buChar char="•"/>
            </a:pPr>
            <a:endParaRPr lang="en-US" dirty="0" smtClean="0">
              <a:latin typeface="Bahnschrift" pitchFamily="34" charset="0"/>
            </a:endParaRPr>
          </a:p>
          <a:p>
            <a:pPr marL="285750" indent="-285750">
              <a:buFont typeface="Arial" pitchFamily="34" charset="0"/>
              <a:buChar char="•"/>
            </a:pPr>
            <a:r>
              <a:rPr lang="en-US" dirty="0" smtClean="0">
                <a:latin typeface="Bahnschrift" pitchFamily="34" charset="0"/>
              </a:rPr>
              <a:t>The.</a:t>
            </a:r>
            <a:endParaRPr lang="en-IN" dirty="0">
              <a:latin typeface="Bahnschrift" pitchFamily="34" charset="0"/>
            </a:endParaRPr>
          </a:p>
        </p:txBody>
      </p:sp>
    </p:spTree>
    <p:extLst>
      <p:ext uri="{BB962C8B-B14F-4D97-AF65-F5344CB8AC3E}">
        <p14:creationId xmlns:p14="http://schemas.microsoft.com/office/powerpoint/2010/main" val="934241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3.61111E-6 -1.96532E-6 L 1.00017 -1.96532E-6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30"/>
                                        </p:tgtEl>
                                        <p:attrNameLst>
                                          <p:attrName>style.visibility</p:attrName>
                                        </p:attrNameLst>
                                      </p:cBhvr>
                                      <p:to>
                                        <p:strVal val="visible"/>
                                      </p:to>
                                    </p:set>
                                    <p:anim calcmode="lin" valueType="num">
                                      <p:cBhvr>
                                        <p:cTn id="10"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30"/>
                                        </p:tgtEl>
                                        <p:attrNameLst>
                                          <p:attrName>ppt_y</p:attrName>
                                        </p:attrNameLst>
                                      </p:cBhvr>
                                      <p:tavLst>
                                        <p:tav tm="0">
                                          <p:val>
                                            <p:strVal val="#ppt_y"/>
                                          </p:val>
                                        </p:tav>
                                        <p:tav tm="100000">
                                          <p:val>
                                            <p:strVal val="#ppt_y"/>
                                          </p:val>
                                        </p:tav>
                                      </p:tavLst>
                                    </p:anim>
                                    <p:anim calcmode="lin" valueType="num">
                                      <p:cBhvr>
                                        <p:cTn id="12"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41" presetClass="entr" presetSubtype="0" fill="hold" grpId="0" nodeType="clickEffect">
                                  <p:stCondLst>
                                    <p:cond delay="0"/>
                                  </p:stCondLst>
                                  <p:iterate type="lt">
                                    <p:tmPct val="10000"/>
                                  </p:iterate>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
                                        </p:tgtEl>
                                        <p:attrNameLst>
                                          <p:attrName>ppt_y</p:attrName>
                                        </p:attrNameLst>
                                      </p:cBhvr>
                                      <p:tavLst>
                                        <p:tav tm="0">
                                          <p:val>
                                            <p:strVal val="#ppt_y"/>
                                          </p:val>
                                        </p:tav>
                                        <p:tav tm="100000">
                                          <p:val>
                                            <p:strVal val="#ppt_y"/>
                                          </p:val>
                                        </p:tav>
                                      </p:tavLst>
                                    </p:anim>
                                    <p:anim calcmode="lin" valueType="num">
                                      <p:cBhvr>
                                        <p:cTn id="21"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574" y="0"/>
            <a:ext cx="9161187" cy="6858000"/>
            <a:chOff x="-9144000" y="0"/>
            <a:chExt cx="9161187" cy="6858000"/>
          </a:xfrm>
        </p:grpSpPr>
        <p:sp>
          <p:nvSpPr>
            <p:cNvPr id="12" name="Rectangle 11"/>
            <p:cNvSpPr/>
            <p:nvPr/>
          </p:nvSpPr>
          <p:spPr>
            <a:xfrm>
              <a:off x="-914400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3" name="Group 12"/>
            <p:cNvGrpSpPr/>
            <p:nvPr/>
          </p:nvGrpSpPr>
          <p:grpSpPr>
            <a:xfrm>
              <a:off x="-522365" y="1736812"/>
              <a:ext cx="539552" cy="3384375"/>
              <a:chOff x="-522365" y="1736812"/>
              <a:chExt cx="539552" cy="3384375"/>
            </a:xfrm>
          </p:grpSpPr>
          <p:sp>
            <p:nvSpPr>
              <p:cNvPr id="14" name="Rounded Rectangle 13"/>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rot="16200000">
                <a:off x="-1831891" y="3198168"/>
                <a:ext cx="3138770" cy="461665"/>
              </a:xfrm>
              <a:prstGeom prst="rect">
                <a:avLst/>
              </a:prstGeom>
              <a:noFill/>
            </p:spPr>
            <p:txBody>
              <a:bodyPr wrap="square" rtlCol="0">
                <a:spAutoFit/>
              </a:bodyPr>
              <a:lstStyle/>
              <a:p>
                <a:pPr algn="ctr"/>
                <a:r>
                  <a:rPr lang="en-IN" sz="2400" b="1" dirty="0" smtClean="0">
                    <a:latin typeface="Bahnschrift Light" pitchFamily="34" charset="0"/>
                  </a:rPr>
                  <a:t>Conclusion</a:t>
                </a:r>
                <a:endParaRPr lang="en-IN" sz="2400" b="1" dirty="0">
                  <a:latin typeface="Bahnschrift Light" pitchFamily="34" charset="0"/>
                </a:endParaRPr>
              </a:p>
            </p:txBody>
          </p:sp>
        </p:grpSp>
      </p:grpSp>
      <p:grpSp>
        <p:nvGrpSpPr>
          <p:cNvPr id="11" name="Group 10"/>
          <p:cNvGrpSpPr/>
          <p:nvPr/>
        </p:nvGrpSpPr>
        <p:grpSpPr>
          <a:xfrm>
            <a:off x="-9154613" y="0"/>
            <a:ext cx="9161187" cy="6858000"/>
            <a:chOff x="-9144000" y="0"/>
            <a:chExt cx="9161187" cy="6858000"/>
          </a:xfrm>
          <a:solidFill>
            <a:schemeClr val="bg1">
              <a:lumMod val="95000"/>
            </a:schemeClr>
          </a:solidFill>
        </p:grpSpPr>
        <p:sp>
          <p:nvSpPr>
            <p:cNvPr id="4" name="Rectangle 3"/>
            <p:cNvSpPr/>
            <p:nvPr/>
          </p:nvSpPr>
          <p:spPr>
            <a:xfrm>
              <a:off x="-9144000" y="0"/>
              <a:ext cx="9144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a:grpFill/>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US" sz="2400" dirty="0" smtClean="0">
                    <a:latin typeface="Bahnschrift" pitchFamily="34" charset="0"/>
                  </a:rPr>
                  <a:t>Reference</a:t>
                </a:r>
                <a:endParaRPr lang="en-US" sz="2400" dirty="0">
                  <a:latin typeface="Bahnschrift" pitchFamily="34" charset="0"/>
                </a:endParaRPr>
              </a:p>
            </p:txBody>
          </p:sp>
        </p:grpSp>
      </p:grpSp>
      <p:sp>
        <p:nvSpPr>
          <p:cNvPr id="30" name="TextBox 29"/>
          <p:cNvSpPr txBox="1"/>
          <p:nvPr/>
        </p:nvSpPr>
        <p:spPr>
          <a:xfrm>
            <a:off x="1691680" y="248116"/>
            <a:ext cx="5760640" cy="1020644"/>
          </a:xfrm>
          <a:prstGeom prst="rect">
            <a:avLst/>
          </a:prstGeom>
          <a:noFill/>
        </p:spPr>
        <p:txBody>
          <a:bodyPr wrap="square" rtlCol="0">
            <a:noAutofit/>
          </a:bodyPr>
          <a:lstStyle/>
          <a:p>
            <a:pPr algn="ctr"/>
            <a:r>
              <a:rPr lang="en-US" sz="3200" dirty="0" smtClean="0">
                <a:latin typeface="Bahnschrift" pitchFamily="34" charset="0"/>
              </a:rPr>
              <a:t>Reference</a:t>
            </a:r>
            <a:endParaRPr lang="en-US" sz="3200" dirty="0">
              <a:latin typeface="Bahnschrift" pitchFamily="34" charset="0"/>
            </a:endParaRPr>
          </a:p>
        </p:txBody>
      </p:sp>
      <p:sp>
        <p:nvSpPr>
          <p:cNvPr id="3" name="Rectangle 2"/>
          <p:cNvSpPr/>
          <p:nvPr/>
        </p:nvSpPr>
        <p:spPr>
          <a:xfrm>
            <a:off x="796679" y="2413338"/>
            <a:ext cx="7550642" cy="2031325"/>
          </a:xfrm>
          <a:prstGeom prst="rect">
            <a:avLst/>
          </a:prstGeom>
        </p:spPr>
        <p:txBody>
          <a:bodyPr wrap="square">
            <a:spAutoFit/>
          </a:bodyPr>
          <a:lstStyle/>
          <a:p>
            <a:pPr marL="285750" indent="-285750">
              <a:buFont typeface="Arial" pitchFamily="34" charset="0"/>
              <a:buChar char="•"/>
            </a:pPr>
            <a:r>
              <a:rPr lang="en-US" dirty="0" err="1" smtClean="0">
                <a:latin typeface="Bahnschrift" pitchFamily="34" charset="0"/>
              </a:rPr>
              <a:t>TYBcom</a:t>
            </a:r>
            <a:r>
              <a:rPr lang="en-US" dirty="0" smtClean="0">
                <a:latin typeface="Bahnschrift" pitchFamily="34" charset="0"/>
              </a:rPr>
              <a:t> Computer Systems and Applications Textbook.</a:t>
            </a:r>
          </a:p>
          <a:p>
            <a:pPr marL="285750" indent="-285750">
              <a:buFont typeface="Arial" pitchFamily="34" charset="0"/>
              <a:buChar char="•"/>
            </a:pPr>
            <a:endParaRPr lang="en-US" dirty="0" smtClean="0">
              <a:latin typeface="Bahnschrift" pitchFamily="34" charset="0"/>
            </a:endParaRPr>
          </a:p>
          <a:p>
            <a:pPr marL="285750" indent="-285750">
              <a:buFont typeface="Arial" pitchFamily="34" charset="0"/>
              <a:buChar char="•"/>
            </a:pPr>
            <a:r>
              <a:rPr lang="en-US" dirty="0">
                <a:latin typeface="Bahnschrift" pitchFamily="34" charset="0"/>
              </a:rPr>
              <a:t>http://wiki.media.org.E-Commerce-Overwiev-Major-categories</a:t>
            </a:r>
          </a:p>
          <a:p>
            <a:pPr marL="285750" indent="-285750">
              <a:buFont typeface="Arial" pitchFamily="34" charset="0"/>
              <a:buChar char="•"/>
            </a:pPr>
            <a:endParaRPr lang="en-US" dirty="0">
              <a:latin typeface="Bahnschrift" pitchFamily="34" charset="0"/>
            </a:endParaRPr>
          </a:p>
          <a:p>
            <a:pPr marL="285750" indent="-285750">
              <a:buFont typeface="Arial" pitchFamily="34" charset="0"/>
              <a:buChar char="•"/>
            </a:pPr>
            <a:r>
              <a:rPr lang="en-US" dirty="0">
                <a:latin typeface="Bahnschrift" pitchFamily="34" charset="0"/>
              </a:rPr>
              <a:t>http://www.shopping online.com</a:t>
            </a:r>
          </a:p>
          <a:p>
            <a:pPr marL="285750" indent="-285750">
              <a:buFont typeface="Arial" pitchFamily="34" charset="0"/>
              <a:buChar char="•"/>
            </a:pPr>
            <a:endParaRPr lang="en-US" dirty="0">
              <a:latin typeface="Bahnschrift" pitchFamily="34" charset="0"/>
            </a:endParaRPr>
          </a:p>
          <a:p>
            <a:pPr marL="285750" indent="-285750">
              <a:buFont typeface="Arial" pitchFamily="34" charset="0"/>
              <a:buChar char="•"/>
            </a:pPr>
            <a:r>
              <a:rPr lang="en-US" dirty="0" smtClean="0">
                <a:latin typeface="Bahnschrift" pitchFamily="34" charset="0"/>
              </a:rPr>
              <a:t>Google Images.</a:t>
            </a:r>
            <a:endParaRPr lang="en-IN" dirty="0">
              <a:latin typeface="Bahnschrift" pitchFamily="34" charset="0"/>
            </a:endParaRPr>
          </a:p>
        </p:txBody>
      </p:sp>
    </p:spTree>
    <p:extLst>
      <p:ext uri="{BB962C8B-B14F-4D97-AF65-F5344CB8AC3E}">
        <p14:creationId xmlns:p14="http://schemas.microsoft.com/office/powerpoint/2010/main" val="38609206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3.61111E-6 -1.96532E-6 L 1.00017 -1.96532E-6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30"/>
                                        </p:tgtEl>
                                        <p:attrNameLst>
                                          <p:attrName>style.visibility</p:attrName>
                                        </p:attrNameLst>
                                      </p:cBhvr>
                                      <p:to>
                                        <p:strVal val="visible"/>
                                      </p:to>
                                    </p:set>
                                    <p:anim calcmode="lin" valueType="num">
                                      <p:cBhvr>
                                        <p:cTn id="10"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30"/>
                                        </p:tgtEl>
                                        <p:attrNameLst>
                                          <p:attrName>ppt_y</p:attrName>
                                        </p:attrNameLst>
                                      </p:cBhvr>
                                      <p:tavLst>
                                        <p:tav tm="0">
                                          <p:val>
                                            <p:strVal val="#ppt_y"/>
                                          </p:val>
                                        </p:tav>
                                        <p:tav tm="100000">
                                          <p:val>
                                            <p:strVal val="#ppt_y"/>
                                          </p:val>
                                        </p:tav>
                                      </p:tavLst>
                                    </p:anim>
                                    <p:anim calcmode="lin" valueType="num">
                                      <p:cBhvr>
                                        <p:cTn id="12"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41" presetClass="entr" presetSubtype="0" fill="hold" grpId="0" nodeType="clickEffect">
                                  <p:stCondLst>
                                    <p:cond delay="0"/>
                                  </p:stCondLst>
                                  <p:iterate type="lt">
                                    <p:tmPct val="10000"/>
                                  </p:iterate>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
                                        </p:tgtEl>
                                        <p:attrNameLst>
                                          <p:attrName>ppt_y</p:attrName>
                                        </p:attrNameLst>
                                      </p:cBhvr>
                                      <p:tavLst>
                                        <p:tav tm="0">
                                          <p:val>
                                            <p:strVal val="#ppt_y"/>
                                          </p:val>
                                        </p:tav>
                                        <p:tav tm="100000">
                                          <p:val>
                                            <p:strVal val="#ppt_y"/>
                                          </p:val>
                                        </p:tav>
                                      </p:tavLst>
                                    </p:anim>
                                    <p:anim calcmode="lin" valueType="num">
                                      <p:cBhvr>
                                        <p:cTn id="21"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574" y="0"/>
            <a:ext cx="9161187" cy="6858000"/>
            <a:chOff x="-9144000" y="0"/>
            <a:chExt cx="9161187" cy="6858000"/>
          </a:xfrm>
        </p:grpSpPr>
        <p:sp>
          <p:nvSpPr>
            <p:cNvPr id="12" name="Rectangle 11"/>
            <p:cNvSpPr/>
            <p:nvPr/>
          </p:nvSpPr>
          <p:spPr>
            <a:xfrm>
              <a:off x="-914400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3" name="Group 12"/>
            <p:cNvGrpSpPr/>
            <p:nvPr/>
          </p:nvGrpSpPr>
          <p:grpSpPr>
            <a:xfrm>
              <a:off x="-522365" y="1736812"/>
              <a:ext cx="539552" cy="3384375"/>
              <a:chOff x="-522365" y="1736812"/>
              <a:chExt cx="539552" cy="3384375"/>
            </a:xfrm>
          </p:grpSpPr>
          <p:sp>
            <p:nvSpPr>
              <p:cNvPr id="14" name="Rounded Rectangle 13"/>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rot="16200000">
                <a:off x="-1831891" y="3198168"/>
                <a:ext cx="3138770" cy="461665"/>
              </a:xfrm>
              <a:prstGeom prst="rect">
                <a:avLst/>
              </a:prstGeom>
              <a:noFill/>
            </p:spPr>
            <p:txBody>
              <a:bodyPr wrap="square" rtlCol="0">
                <a:spAutoFit/>
              </a:bodyPr>
              <a:lstStyle/>
              <a:p>
                <a:pPr algn="ctr"/>
                <a:r>
                  <a:rPr lang="en-US" sz="2400" dirty="0" smtClean="0">
                    <a:latin typeface="Bahnschrift" pitchFamily="34" charset="0"/>
                  </a:rPr>
                  <a:t>Reference</a:t>
                </a:r>
                <a:endParaRPr lang="en-US" sz="2400" dirty="0">
                  <a:latin typeface="Bahnschrift" pitchFamily="34" charset="0"/>
                </a:endParaRPr>
              </a:p>
            </p:txBody>
          </p:sp>
        </p:grpSp>
      </p:grpSp>
      <p:grpSp>
        <p:nvGrpSpPr>
          <p:cNvPr id="11" name="Group 10"/>
          <p:cNvGrpSpPr/>
          <p:nvPr/>
        </p:nvGrpSpPr>
        <p:grpSpPr>
          <a:xfrm>
            <a:off x="-9154613" y="0"/>
            <a:ext cx="9161187" cy="6858000"/>
            <a:chOff x="-9144000" y="0"/>
            <a:chExt cx="9161187" cy="6858000"/>
          </a:xfrm>
          <a:solidFill>
            <a:schemeClr val="bg1">
              <a:lumMod val="95000"/>
            </a:schemeClr>
          </a:solidFill>
        </p:grpSpPr>
        <p:sp>
          <p:nvSpPr>
            <p:cNvPr id="4" name="Rectangle 3"/>
            <p:cNvSpPr/>
            <p:nvPr/>
          </p:nvSpPr>
          <p:spPr>
            <a:xfrm>
              <a:off x="-9144000" y="0"/>
              <a:ext cx="9144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p:cNvGrpSpPr/>
            <p:nvPr/>
          </p:nvGrpSpPr>
          <p:grpSpPr>
            <a:xfrm>
              <a:off x="-522365" y="1736812"/>
              <a:ext cx="539552" cy="3384375"/>
              <a:chOff x="-522365" y="1736812"/>
              <a:chExt cx="539552" cy="3384375"/>
            </a:xfrm>
            <a:grpFill/>
          </p:grpSpPr>
          <p:sp>
            <p:nvSpPr>
              <p:cNvPr id="7" name="Rounded Rectangle 6"/>
              <p:cNvSpPr/>
              <p:nvPr/>
            </p:nvSpPr>
            <p:spPr>
              <a:xfrm>
                <a:off x="-522365" y="1736812"/>
                <a:ext cx="539552" cy="3384375"/>
              </a:xfrm>
              <a:prstGeom prst="round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rot="16200000">
                <a:off x="-1831891" y="3198168"/>
                <a:ext cx="3138770" cy="461665"/>
              </a:xfrm>
              <a:prstGeom prst="rect">
                <a:avLst/>
              </a:prstGeom>
              <a:noFill/>
            </p:spPr>
            <p:txBody>
              <a:bodyPr wrap="square" rtlCol="0">
                <a:spAutoFit/>
              </a:bodyPr>
              <a:lstStyle/>
              <a:p>
                <a:pPr algn="ctr"/>
                <a:r>
                  <a:rPr lang="en-US" sz="2400" dirty="0">
                    <a:latin typeface="Bahnschrift" pitchFamily="34" charset="0"/>
                  </a:rPr>
                  <a:t>Acknowledgement</a:t>
                </a:r>
              </a:p>
            </p:txBody>
          </p:sp>
        </p:grpSp>
      </p:grpSp>
      <p:sp>
        <p:nvSpPr>
          <p:cNvPr id="30" name="TextBox 29"/>
          <p:cNvSpPr txBox="1"/>
          <p:nvPr/>
        </p:nvSpPr>
        <p:spPr>
          <a:xfrm>
            <a:off x="1687116" y="838971"/>
            <a:ext cx="5760640" cy="1020644"/>
          </a:xfrm>
          <a:prstGeom prst="rect">
            <a:avLst/>
          </a:prstGeom>
          <a:noFill/>
        </p:spPr>
        <p:txBody>
          <a:bodyPr wrap="square" rtlCol="0">
            <a:noAutofit/>
          </a:bodyPr>
          <a:lstStyle/>
          <a:p>
            <a:pPr algn="ctr"/>
            <a:r>
              <a:rPr lang="en-US" sz="3200" dirty="0" smtClean="0">
                <a:latin typeface="Bahnschrift" pitchFamily="34" charset="0"/>
              </a:rPr>
              <a:t>Acknowledgement</a:t>
            </a:r>
            <a:endParaRPr lang="en-US" sz="3200" dirty="0">
              <a:latin typeface="Bahnschrift" pitchFamily="34" charset="0"/>
            </a:endParaRPr>
          </a:p>
        </p:txBody>
      </p:sp>
      <p:sp>
        <p:nvSpPr>
          <p:cNvPr id="3" name="Rectangle 2"/>
          <p:cNvSpPr/>
          <p:nvPr/>
        </p:nvSpPr>
        <p:spPr>
          <a:xfrm>
            <a:off x="796679" y="2413338"/>
            <a:ext cx="7550642" cy="2677656"/>
          </a:xfrm>
          <a:prstGeom prst="rect">
            <a:avLst/>
          </a:prstGeom>
        </p:spPr>
        <p:txBody>
          <a:bodyPr wrap="square">
            <a:spAutoFit/>
          </a:bodyPr>
          <a:lstStyle/>
          <a:p>
            <a:pPr marL="285750" indent="-285750">
              <a:buFont typeface="Arial" pitchFamily="34" charset="0"/>
              <a:buChar char="•"/>
            </a:pPr>
            <a:r>
              <a:rPr lang="en-US" sz="2400" dirty="0" smtClean="0">
                <a:latin typeface="Bahnschrift" pitchFamily="34" charset="0"/>
              </a:rPr>
              <a:t>I would like to thanks of gratitude to my computer professor “Milind Kulkarni” for their guidance and support in completing my project.</a:t>
            </a:r>
          </a:p>
          <a:p>
            <a:endParaRPr lang="en-US" sz="2400" dirty="0" smtClean="0">
              <a:latin typeface="Bahnschrift" pitchFamily="34" charset="0"/>
            </a:endParaRPr>
          </a:p>
          <a:p>
            <a:pPr marL="285750" indent="-285750">
              <a:buFont typeface="Arial" pitchFamily="34" charset="0"/>
              <a:buChar char="•"/>
            </a:pPr>
            <a:endParaRPr lang="en-US" sz="2400" dirty="0">
              <a:latin typeface="Bahnschrift" pitchFamily="34" charset="0"/>
            </a:endParaRPr>
          </a:p>
          <a:p>
            <a:pPr marL="285750" indent="-285750">
              <a:buFont typeface="Arial" pitchFamily="34" charset="0"/>
              <a:buChar char="•"/>
            </a:pPr>
            <a:r>
              <a:rPr lang="en-US" sz="2400" dirty="0" smtClean="0">
                <a:latin typeface="Bahnschrift" pitchFamily="34" charset="0"/>
              </a:rPr>
              <a:t>I would also like to thanks my Principal madam “Dr. Neha Jagtiani” for providing all required facilities.</a:t>
            </a:r>
            <a:endParaRPr lang="en-IN" sz="2400" dirty="0">
              <a:latin typeface="Bahnschrift" pitchFamily="34" charset="0"/>
            </a:endParaRPr>
          </a:p>
        </p:txBody>
      </p:sp>
    </p:spTree>
    <p:extLst>
      <p:ext uri="{BB962C8B-B14F-4D97-AF65-F5344CB8AC3E}">
        <p14:creationId xmlns:p14="http://schemas.microsoft.com/office/powerpoint/2010/main" val="36408651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3.61111E-6 -1.96532E-6 L 1.00017 -1.96532E-6 " pathEditMode="relative" rAng="0" ptsTypes="AA">
                                      <p:cBhvr>
                                        <p:cTn id="6" dur="2000" fill="hold"/>
                                        <p:tgtEl>
                                          <p:spTgt spid="11"/>
                                        </p:tgtEl>
                                        <p:attrNameLst>
                                          <p:attrName>ppt_x</p:attrName>
                                          <p:attrName>ppt_y</p:attrName>
                                        </p:attrNameLst>
                                      </p:cBhvr>
                                      <p:rCtr x="50017" y="0"/>
                                    </p:animMotion>
                                  </p:childTnLst>
                                </p:cTn>
                              </p:par>
                            </p:childTnLst>
                          </p:cTn>
                        </p:par>
                        <p:par>
                          <p:cTn id="7" fill="hold">
                            <p:stCondLst>
                              <p:cond delay="200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30"/>
                                        </p:tgtEl>
                                        <p:attrNameLst>
                                          <p:attrName>style.visibility</p:attrName>
                                        </p:attrNameLst>
                                      </p:cBhvr>
                                      <p:to>
                                        <p:strVal val="visible"/>
                                      </p:to>
                                    </p:set>
                                    <p:anim calcmode="lin" valueType="num">
                                      <p:cBhvr>
                                        <p:cTn id="10"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30"/>
                                        </p:tgtEl>
                                        <p:attrNameLst>
                                          <p:attrName>ppt_y</p:attrName>
                                        </p:attrNameLst>
                                      </p:cBhvr>
                                      <p:tavLst>
                                        <p:tav tm="0">
                                          <p:val>
                                            <p:strVal val="#ppt_y"/>
                                          </p:val>
                                        </p:tav>
                                        <p:tav tm="100000">
                                          <p:val>
                                            <p:strVal val="#ppt_y"/>
                                          </p:val>
                                        </p:tav>
                                      </p:tavLst>
                                    </p:anim>
                                    <p:anim calcmode="lin" valueType="num">
                                      <p:cBhvr>
                                        <p:cTn id="12"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41" presetClass="entr" presetSubtype="0" fill="hold" grpId="0" nodeType="clickEffect">
                                  <p:stCondLst>
                                    <p:cond delay="0"/>
                                  </p:stCondLst>
                                  <p:iterate type="lt">
                                    <p:tmPct val="10000"/>
                                  </p:iterate>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
                                        </p:tgtEl>
                                        <p:attrNameLst>
                                          <p:attrName>ppt_y</p:attrName>
                                        </p:attrNameLst>
                                      </p:cBhvr>
                                      <p:tavLst>
                                        <p:tav tm="0">
                                          <p:val>
                                            <p:strVal val="#ppt_y"/>
                                          </p:val>
                                        </p:tav>
                                        <p:tav tm="100000">
                                          <p:val>
                                            <p:strVal val="#ppt_y"/>
                                          </p:val>
                                        </p:tav>
                                      </p:tavLst>
                                    </p:anim>
                                    <p:anim calcmode="lin" valueType="num">
                                      <p:cBhvr>
                                        <p:cTn id="21"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714</TotalTime>
  <Words>1353</Words>
  <Application>Microsoft Office PowerPoint</Application>
  <PresentationFormat>On-screen Show (4:3)</PresentationFormat>
  <Paragraphs>162</Paragraphs>
  <Slides>21</Slides>
  <Notes>2</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97</cp:revision>
  <dcterms:created xsi:type="dcterms:W3CDTF">2021-03-03T11:38:31Z</dcterms:created>
  <dcterms:modified xsi:type="dcterms:W3CDTF">2021-03-04T03:53:58Z</dcterms:modified>
</cp:coreProperties>
</file>